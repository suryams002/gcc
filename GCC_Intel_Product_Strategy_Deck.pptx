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32720" cy="5029200"/>
          </a:xfrm>
          <a:prstGeom prst="roundRect">
            <a:avLst/>
          </a:prstGeom>
          <a:solidFill>
            <a:srgbClr val="0E1626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371600"/>
            <a:ext cx="9235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FLEXIPLE PRODUCT INTERNSHIP EVALUATION</a:t>
            </a:r>
          </a:p>
          <a:p>
            <a:pPr>
              <a:spcBef>
                <a:spcPts val="1000"/>
              </a:spcBef>
              <a:defRPr sz="3200" b="1">
                <a:solidFill>
                  <a:srgbClr val="F8FAFC"/>
                </a:solidFill>
              </a:defRPr>
            </a:pPr>
            <a:r>
              <a:t>GCC INTEL — PRODUCT STRATEGY DECK</a:t>
            </a:r>
          </a:p>
          <a:p>
            <a:pPr>
              <a:spcBef>
                <a:spcPts val="600"/>
              </a:spcBef>
              <a:defRPr sz="1600">
                <a:solidFill>
                  <a:srgbClr val="38BDF8"/>
                </a:solidFill>
              </a:defRPr>
            </a:pPr>
            <a:r>
              <a:t>India's AI-Powered Market Intelligence &amp; Location Advisory Terminal</a:t>
            </a:r>
          </a:p>
          <a:p>
            <a:pPr>
              <a:spcBef>
                <a:spcPts val="1400"/>
              </a:spcBef>
              <a:defRPr sz="1250">
                <a:solidFill>
                  <a:srgbClr val="CBD5E1"/>
                </a:solidFill>
              </a:defRPr>
            </a:pPr>
            <a:r>
              <a:t>Transforming multi-million dollar enterprise expansion decisions with audited GCC records, real-time OpEx simulation, and zero-hallucination agentic RAG.</a:t>
            </a:r>
          </a:p>
          <a:p>
            <a:pPr>
              <a:spcBef>
                <a:spcPts val="2200"/>
              </a:spcBef>
              <a:defRPr sz="1050">
                <a:solidFill>
                  <a:srgbClr val="38BDF8"/>
                </a:solidFill>
              </a:defRPr>
            </a:pPr>
            <a:r>
              <a:t>🌐 Live Production Platform: https://cu5axikwdfpfurctzwhxtp.streamlit.app/</a:t>
            </a:r>
            <a:br/>
            <a:r>
              <a:t>💻 Source Code Repository: https://github.com/SURYAMS002/gcc</a:t>
            </a:r>
            <a:br/>
            <a:r>
              <a:t>👤 Author: Suryam S  |  Version: v1.0 Production  |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Strategic Overview: Empowering Enterprise GCC Decisions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1. The Macro Shift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India's GCC sector is transitioning from cost-arbitrage support centers to strategic global transformation engines (GCC 4.0).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Over 1,900 operational GCCs employ 1.9M+ professionals and generate $64.6B in direct economic value.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Scaling toward 2,500+ GCCs and $100B+ economic output by 2030.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Average setup involves $15M-$50M+ in capital outlays and multi-year lease commitments.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2. The Critical Friction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Strategic leaders navigate fragmented, conflicting reports and opaque real estate broker averages.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Press releases routinely conflate aspirational 5-year targets with actual ground-level operational staff.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Complex state policies (Karnataka 2024, TN 2022, Telangana TS-iPASS) remain locked in state gazettes.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Standard conversational AI models hallucinate office locations, invent salaries, and cite dead links.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1673351"/>
            <a:ext cx="29809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3. The GCC Intel Solution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Audited Enterprise Registry: 32 verified GCC case files across 5 hubs and 8 industries with 100% verified source provenance.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Location OpEx Modeler: Real-time parametric simulation of Grade-A leases, base engineering payroll, and state grants.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LangGraph Verifiable RAG: Multi-node audit pipeline with FAISS vector retrieval and zero-hallucination abstention.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Production-Ready MVP: Live at cu5axikwdfpfurctzwhxtp.streamlit.app.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The Enterprise GCC Information Gap: Four Critical Pain 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24688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73351"/>
            <a:ext cx="20665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1. Blended Real Estate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Reports quote generic city-wide averages.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Bengaluru ORR (₹125/sqft/mo) vs Electronic City (₹55/sqft/mo) differ by over 120%.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Lease decisions risk multi-crore budget variances without micro-market granularity.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508760"/>
            <a:ext cx="24688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75887" y="1673351"/>
            <a:ext cx="20665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2. Target Inflation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Corporate PR releases announce 5,000-seat multi-year aspirations.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Actual day-1 operational headcount is often only 300-500 employees.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Distorting competitor intelligence and market capacity assessments.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08760"/>
            <a:ext cx="24688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673351"/>
            <a:ext cx="20665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3. Obscure Subsidies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State governments offer substantial incentives, but details are buried in gazettes.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Tamil Nadu offers ₹4,000/seat/mo training subsidies.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Telangana TS-iPASS grants statutory 30-day deemed clearances.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Most entrants fail to claim available subsidies due to lack of visibility.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508760"/>
            <a:ext cx="24688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62288" y="1673351"/>
            <a:ext cx="20665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4. LLM Hallucinations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Generic LLMs generate convincing falsehoods for high-stakes decisions.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Invent non-existent tech centers, fabricate compensation bands, and cite dead links.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Enterprises require strict mathematical accuracy and verified source citations.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A High-Margin B2B Market Driven by Historic Tailwinds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TAM: $4.8 Billion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Global Corporate Location Intelligence &amp; Expansion Advisory.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Enterprises worldwide spend billions on Big 4 retainers, location strategy, commercial lease consultancy, and talent benchmarking.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Driven by nearshoring and global engineering decentralization.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SAM: $720 Million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India-Specific GCC Advisory, EOR Incubation &amp; Strategic Setup.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Over 500 new GCCs projected to enter India between 2024 and 2030.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Each incoming GCC allocates $200k-$1M+ in preliminary feasibility studies, vendor searches, and advisory services.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1673351"/>
            <a:ext cx="29809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SOM: $18 Million (Year 3)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Capturing 3.5% of annual incoming and expanding mid-market/enterprise GCC advisory workflows.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Monetized via tiered B2B SaaS terminal seats ($5k-$25k/yr) and vendor referral commissions.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Expanding into continuous talent &amp; real estate benchmarking.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TARGET CUSTOMERS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Multi-Stakeholder B2B Decision-Making Unit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24688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73351"/>
            <a:ext cx="20665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CIO / VP Engineering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Profile: US/EU tech executives setting up a 150-500 person engineering hub.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Key Need: Validating niche talent depth (AI/ML, Cloud, Quant Finance) and attrition risk.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Value: Instant objective hub comparison without vendor bias.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508760"/>
            <a:ext cx="24688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75887" y="1673351"/>
            <a:ext cx="20665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CRE &amp; Workplace Head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Profile: Real estate directors budgeting Grade-A office leases across tech corridors.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Key Need: Micro-market rental spreads, vacancy rates, and seat ratio standards (90 sqft/seat).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Value: Rapid parametric modeling of annual lease outlays in INR Cr &amp; USD 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08760"/>
            <a:ext cx="24688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673351"/>
            <a:ext cx="20665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PE / VC Operating Partner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Profile: Growth-stage portfolio operations leaders guiding SaaS companies to scale in India.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Key Need: EOR (Employer of Record) vs. Captive entity cost-benefit analysis.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Value: Bypassing $150k consulting fees for early feasibility.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508760"/>
            <a:ext cx="24688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62288" y="1673351"/>
            <a:ext cx="20665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State Investment Agencies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Profile: State IT departments (e.g. Guidance TN, ITE&amp;C Telangana) seeking investments.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Key Need: Policy benchmarking vs. competitor states and promoting subsidies.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Value: Platform visibility to global decision-makers evaluating expansion.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GCC Intel: The Institutional Intelligence Terminal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1. Curated Enterprise Registry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32 Audited GCC Records: Goldman Sachs, Boeing, Walmart, AstraZeneca, Ford, etc.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Granular Attributes: HQ, micro-market address, verified headcount, and expansion signals.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Verification Tiers: Transparent 'Verified Fact', 'Announcement', and 'Estimate' tags.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CSV Export: One-click directory download for offline modeling.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2. Parametric OpEx Modeler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Calculates Grade-A commercial lease budgets (INR Cr &amp; USD M) using CBRE Q2 2024 rates.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Models base engineering payroll using Michael Page 2024 compensation matrices.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Applies statutory state incentives (TN training grants, Haryana employment subsidies).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Recommends prime micro-markets with rent ranges and vacancy percentages.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1673351"/>
            <a:ext cx="29809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3. Verifiable LangGraph Agent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5-Step Decision Loop: plan_and_search -&gt; calculate -&gt; draft -&gt; verify -&gt; finalize.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FAISS Vector Retrieval: gemini-embedding-2 indexing policy gazettes &amp; market reports.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Strict Grounding: Mandatory primary source citations with working URLs.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Zero-Hallucination Policy: Transparent abstention when verified data is unavailable.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How GCC Intel Is Built: Data Engineering &amp; Agentic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1. Structured Data Layer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4 Relational JSON Datasets: gcc_records.json (32 GCCs), city_intelligence.json (5 hubs), service_providers.json (8 partners), and sources_registry.json (15 sources).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Strict Schema Validation: Normalized fields for company metadata, micro-markets, and statutory policies.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High-Density Dossiers: Markdown repository compiling sector-specific GCC profiles and government gazettes.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2. Vector Indexing Pipeline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Embedding Model: gemini-embedding-2 generating 3072-dimensional dense semantic vectors.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FAISS CPU Index: High-speed cosine similarity retrieval with persistent on-disk cache.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1:1 Embedding Generation: Robust sequential chunk encoding ensuring zero multi-part aggregation bugs.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Multi-City Semantic Retrieval: Fetches cross-metro data in under 200ms.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1673351"/>
            <a:ext cx="29809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3. LangGraph &amp; AST Engine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LangGraph StateGraph: Multi-node directed execution graph managing typed state transitions.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Python AST Calculator: Deterministic mathematical expression evaluator preventing hallucinations.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Gemini 3.8 Flash: High-speed, multimodal LLM reasoning engine.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Frontend: Streamlit with responsive Altair charts and custom institutional CSS.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SPECIAL FEATURE: OPEX MODELER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Parametric Real Estate, Payroll &amp; Subsidy Simulation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Input Controls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Target Hub: Bengaluru, Hyderabad, Chennai, Pune, or Gurugram.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Workforce Headcount: Interactive slider from 50 to 1,000 employees.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Specialization: Cloud Engineering, AI/ML, Quant Finance, Embedded Hardware.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Reactive Simulation: Instant recalculation upon any parameter adjustment.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Mathematical Engine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Floor Space Requirement = Headcount × 90 sq.ft (industry standard).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Commercial Lease Outlay = Space × CBRE Q2 2024 Grade-A Rental Rates × 12.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Base Tech Payroll = Headcount × Michael Page 2024 Market Salary Mean.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Total Annual OpEx = Lease Outlay + Base Payroll - State Subsidies.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Deterministic Math: Computed via Python AST parser to ensure zero calculation errors.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1673351"/>
            <a:ext cx="29809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Executive Outputs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Dual Currency Display: High-contrast metric cards in INR Crores &amp; USD Millions.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Micro-Market Breakdown: Specific rental rates and vacancy percentages (e.g. HITEC City vs Financial District).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State Policy Subsidies: Automatic callout of training subsidies (TN ₹4,000/seat/mo), EPF waivers, and hiring grants.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Decision-Ready: Formatted for investment committee review.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SPECIAL FEATURE: GCC REGISTRY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32 Audited Enterprise Dossiers with One-Click CSV Export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Curated Enterprise Profiles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32 Audited Marquee GCCs: Covering BFSI, Tech, Retail, Automotive, Aerospace, and Life Sciences.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Fortune 500 Leaders: Goldman Sachs, Boeing BIETC, JPMorgan, Walmart Global Tech, AstraZeneca, Mercedes-Benz, Ford, etc.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Granular Attributes: HQ, micro-market address, verified headcount, and expansion signals.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Verification Tiers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Verified Fact (Green Badge): Backed by statutory regulatory filings and official government records.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Company Announcement (Blue Badge): Backed by official executive press releases and verified media releases.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Industry Estimate (Amber Badge): Grounded in NASSCOM, CBRE, and Michael Page benchmark ranges.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1673351"/>
            <a:ext cx="29809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Interactive Filtering &amp; CSV Export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Multi-Attribute Filtering: Search by company keyword, metro hub, industry vertical, or verification tier.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Dual Display Modes: Executive Case Dossier Cards or Master Data Table.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1-Click CSV Export: Instant download of the full 32-record directory for custom enterprise financial modeling.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SPECIAL FEATURE: CITY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Side-by-Side Benchmarking Across 5 Tier-1 Metros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5 Monitored Hubs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Bengaluru: India's GCC capital with 39.5% market share and deepest AI/ML talent pool.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Hyderabad: Lowest Grade-A vacancy and premier TS-iPASS single-window statutory clearances.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Chennai: SaaS and manufacturing R&amp;D hub with lowest Grade-A office leasing rates.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Pune: Automotive R&amp;D and engineering center near financial capital Mumbai.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Gurugram: North India's premier corporate and fintech hub with highest airport connectivity.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Comparative Dimensions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Ecosystem Scale: Market share %, active GCC center counts, and total workforce pool.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Grade-A Real Estate: CBRE Q2 2024 monthly rental spreads and micro-market vacancy rates.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Compensation Benchmarks: Junior, Mid, Senior, and Principal salary bands from Michael Page 2024.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State Policies: Specific policy names, departments, and statutory subsidy schedules.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1673351"/>
            <a:ext cx="29809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Strategic Trade-offs &amp; AI Synthesis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Explicit Pros &amp; Cons: Unbiased assessment of infrastructure bottlenecks and talent retention risks.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Recommended Entrant Profile: Tailored fit (e.g. Best for Large Tech Captives vs. Regional Cost-Optimized Centers).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AI Comparative Synthesis: One-click comparative brief generation powered by Gemini 3.8 Flash.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SPECIAL FEATURE: AI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Multi-Step Verification with Zero-Hallucination Guardrails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LangGraph 5-Node Workflow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Node 1: Plan &amp; Vector Search — Query decomposition and FAISS semantic chunk search.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Node 2: AST Benchmark Calculator — Safe evaluation of cost and workforce formulas.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Node 3: Draft Advisory Briefing — Gemini 3.8 Flash synthesizes raw briefing.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Node 4: Market Evidence Verifier — Audits claims against retrieved text chunks.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Node 5: Finalize Answer &amp; Citations — Generates final response with hyperlinks.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Multi-Hop RAG Grounding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Vector Retrieval: gemini-embedding-2 indexing policy gazettes and real estate market reports.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Working Hyperlinks: Every substantive fact cited with canonical URL.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Pre-Built Strategic Prompts: 1-click execution cards across BFSI, Life Sciences, and State Policies.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Audit Trail: Transparent expandable dropdown displaying retrieved vector chunks and confidence tiers.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1673351"/>
            <a:ext cx="29809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Zero-Hallucination Policy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Traditional LLMs invent answers when data is missing.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GCC Intel enforces automated evidence auditing.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If verified facts are absent, the agent explicitly returns a refusal to speculate.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Protects corporate decision-makers from multi-million dollar bad assumptions.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SPECIAL FEATURE: PARTNERS &amp;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Vetted Service Providers &amp; Audited Sources Registry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8 Vetted Service Providers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Market Entry Strategy: ANSR, Zinnov, EY, PwC.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Legal &amp; Corporate Governance: Shardul Amarchand Mangaldas, Trilegal.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Commercial Real Estate: CBRE, JLL.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Executive Search &amp; Talent: Michael Page.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Employer of Record (EOR) Incubation: Deel, ANSR Workspace.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15 Canonical Sources Tracked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Industry Authorities: NASSCOM GCC 4.0 Report, Zinnov GCC Landscape 2024.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Real Estate Benchmarks: CBRE India Office Figures Q2 2024.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Salary Matrices: Michael Page India Talent Salary Guide 2024.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State Gazettes: Karnataka GCC Policy 2024, Tamil Nadu R&amp;D Policy 2022, Telangana TS-iPASS.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1673351"/>
            <a:ext cx="29809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Data Conflict Resolution Methodology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Discrepancy Audits: Explicit documentation on why commercial rents differ by micro-market.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Headcount Disambiguation: Separates multi-year target hiring PRs from actual day-1 operational staff.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Confidence Scoring: Continuous data audit cycles ensure fresh, reliable benchmarks.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COMPETITIVE POSITIONING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The Convergence of Research Depth, Speed &amp; Auditability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24688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73351"/>
            <a:ext cx="20665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Big 4 Consulting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Players: McKinsey, EY, PwC, BCG.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Pros: Deep custom strategic analysis.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Cons: High cost ($150k-$300k+), slow turnaround (8-12 weeks), static decks.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GCC Intel Difference: 95% faster initial feasibility at 1/10th the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508760"/>
            <a:ext cx="24688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75887" y="1673351"/>
            <a:ext cx="20665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Real Estate Brokers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Players: CBRE, JLL, Cushman &amp; Wakefield.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Pros: Accurate Grade-A office inventory.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Cons: Biased toward leasing transactions; zero talent or tech stack depth.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GCC Intel Difference: Objective multi-variable modeler combining CRE + talent + policy.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08760"/>
            <a:ext cx="24688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673351"/>
            <a:ext cx="20665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Legacy Analysts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Players: Gartner, Everest Group, Zinnov.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Pros: Reputable industry reports.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Cons: Static annual PDFs, paywalled, cannot run dynamic parametric queries.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GCC Intel Difference: Interactive software terminal with real-time custom simulation.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508760"/>
            <a:ext cx="24688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62288" y="1673351"/>
            <a:ext cx="20665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Generic AI Models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Players: ChatGPT, Claude, Perplexity.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Pros: Broad natural language interface.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Cons: Hallucinates addresses, invents salaries, dead links, no math verification.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GCC Intel Difference: Domain-grounded vector database with LangGraph evidence auditing.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Tiered B2B SaaS Subscriptions &amp; Ecosystem Monetization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Freemium Terminal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Price: Free (Lead Acquisition Hook).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Includes: Macro ecosystem KPIs, high-level city profiles, and 3 standard AI queries/month.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Purpose: Establish GCC Intel as the default discovery starting point for expanding tech teams.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Professional License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Price: $499 / user / month (or $4,990 / yr).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Includes: Full access to 32+ audited GCC dossiers, unlimited AI research agent queries, interactive OpEx modeler, and CSV directory export.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Target: Strategy teams, corporate development directors, and mid-market CXOs.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1673351"/>
            <a:ext cx="29809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Enterprise Advisory License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Price: $25,000 / year (Multi-seat).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Includes: Dedicated tenant, custom headcount simulation models, EOR partner RFP module, quarterly dossier updates, and API access.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Plus: Ecosystem referral revenue from vetted EOR providers, real estate firms, and legal counsels.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C14"/>
          </a:solidFill>
          <a:ln>
            <a:solidFill>
              <a:srgbClr val="080C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DELIVERABLE 1: PRODUCT STRATEGY DECK  |  ROADMAP &amp;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8FAFC"/>
                </a:solidFill>
              </a:defRPr>
            </a:pPr>
            <a:r>
              <a:t>Production Delivery Status &amp; Strategic Execution Horizon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Current MVP (Ready Now)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STATUS: LIVE &amp; 100% OPERATIONAL.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Built and launched rapidly as an evaluation-ready institutional terminal.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32 Audited GCC Profiles with primary source citations.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5 Tier-1 Metros comparative intelligence matrix.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Interactive OpEx &amp; Location Setup Modeler.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LangGraph multi-step research agent.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Live on Streamlit Cloud &amp; GitHub.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29184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73351"/>
            <a:ext cx="288950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Phase 1: Tier-2 Hubs (Months 1-2)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Expand to Tier-2 Emerging GCC Hubs: Kochi, Ahmedabad, Coimbatore, Chandigarh, Jaipur.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EOR vs. Captive Cost Trade-Off Simulator.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Commercial Real Estate API Integration for live vacancy feeds.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Automated PDF Executive Board Briefing generator.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4754880"/>
          </a:xfrm>
          <a:prstGeom prst="roundRect">
            <a:avLst/>
          </a:prstGeom>
          <a:solidFill>
            <a:srgbClr val="0E1626"/>
          </a:solidFill>
          <a:ln w="19050">
            <a:solidFill>
              <a:srgbClr val="2232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47888" y="1673351"/>
            <a:ext cx="2980944" cy="4425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</a:defRPr>
            </a:pPr>
            <a:r>
              <a:t>Phase 2: Enterprise Scale (Months 3-6)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Real-Time Talent Scraper &amp; Attrition Tracker by micro-market.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Enterprise Multi-Tenant Workspaces with SSO &amp; Team Sharing.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Partner Marketplace &amp; Request-for-Proposal (RFP) Workflow.</a:t>
            </a:r>
          </a:p>
          <a:p>
            <a:pPr>
              <a:spcBef>
                <a:spcPts val="500"/>
              </a:spcBef>
              <a:defRPr sz="1050">
                <a:solidFill>
                  <a:srgbClr val="94A3B8"/>
                </a:solidFill>
              </a:defRPr>
            </a:pPr>
            <a:r>
              <a:t>• REST API &amp; Python SDK for enterprise corporate real estate systems.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