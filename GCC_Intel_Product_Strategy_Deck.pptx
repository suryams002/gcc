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10332720" cy="5029200"/>
          </a:xfrm>
          <a:prstGeom prst="roundRect">
            <a:avLst/>
          </a:prstGeom>
          <a:solidFill>
            <a:srgbClr val="0E1626"/>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1371600"/>
            <a:ext cx="9235440" cy="4114800"/>
          </a:xfrm>
          <a:prstGeom prst="rect">
            <a:avLst/>
          </a:prstGeom>
          <a:noFill/>
        </p:spPr>
        <p:txBody>
          <a:bodyPr wrap="square">
            <a:spAutoFit/>
          </a:bodyPr>
          <a:lstStyle/>
          <a:p>
            <a:pPr>
              <a:defRPr sz="1100" b="1">
                <a:solidFill>
                  <a:srgbClr val="38BDF8"/>
                </a:solidFill>
              </a:defRPr>
            </a:pPr>
            <a:r>
              <a:t>DELIVERABLE 1: STRATEGIC PRODUCT PROPOSAL</a:t>
            </a:r>
          </a:p>
          <a:p>
            <a:pPr>
              <a:spcBef>
                <a:spcPts val="800"/>
              </a:spcBef>
              <a:defRPr sz="3800" b="1">
                <a:solidFill>
                  <a:srgbClr val="F8FAFC"/>
                </a:solidFill>
              </a:defRPr>
            </a:pPr>
            <a:r>
              <a:t>GCC INTEL</a:t>
            </a:r>
          </a:p>
          <a:p>
            <a:pPr>
              <a:spcBef>
                <a:spcPts val="400"/>
              </a:spcBef>
              <a:defRPr sz="1800" b="1">
                <a:solidFill>
                  <a:srgbClr val="10B981"/>
                </a:solidFill>
              </a:defRPr>
            </a:pPr>
            <a:r>
              <a:t>India's GCC Market Intelligence Terminal &amp; Location Feasibility Modeler</a:t>
            </a:r>
          </a:p>
          <a:p>
            <a:pPr>
              <a:spcBef>
                <a:spcPts val="1600"/>
              </a:spcBef>
              <a:defRPr sz="1200">
                <a:solidFill>
                  <a:srgbClr val="94A3B8"/>
                </a:solidFill>
              </a:defRPr>
            </a:pPr>
            <a:r>
              <a:t>An evidence-backed market intelligence terminal engineered for global enterprise executives, private equity operating partners, and strategy consultants evaluating location feasibility, state policy subsidies, commercial real estate dynamics, and tech talent economics across India.</a:t>
            </a:r>
          </a:p>
          <a:p>
            <a:pPr>
              <a:spcBef>
                <a:spcPts val="1800"/>
              </a:spcBef>
              <a:defRPr sz="1050">
                <a:solidFill>
                  <a:srgbClr val="F59E0B"/>
                </a:solidFill>
              </a:defRPr>
            </a:pPr>
            <a:r>
              <a:t>• Live Cloud Production: cu5axikwdfpfurctzwhxtp.streamlit.app</a:t>
            </a:r>
            <a:br/>
            <a:r>
              <a:t>• GitHub Source: github.com/SURYAMS002/gcc</a:t>
            </a:r>
            <a:br/>
            <a:r>
              <a:t>• Production Core: LangGraph Multi-Agent RAG | FAISS Semantic Index | AST Math Guard | Gemini Flash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EXECUTIVE SUMMARY</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Strategic Overview: Real-Time Feasibility for a $64B+ Ecosystem</a:t>
            </a:r>
          </a:p>
        </p:txBody>
      </p:sp>
      <p:sp>
        <p:nvSpPr>
          <p:cNvPr id="5" name="Rounded Rectangle 4"/>
          <p:cNvSpPr/>
          <p:nvPr/>
        </p:nvSpPr>
        <p:spPr>
          <a:xfrm>
            <a:off x="731520" y="1508760"/>
            <a:ext cx="329184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2889504" cy="4425696"/>
          </a:xfrm>
          <a:prstGeom prst="rect">
            <a:avLst/>
          </a:prstGeom>
          <a:noFill/>
        </p:spPr>
        <p:txBody>
          <a:bodyPr wrap="square">
            <a:spAutoFit/>
          </a:bodyPr>
          <a:lstStyle/>
          <a:p>
            <a:pPr>
              <a:defRPr sz="1300" b="1">
                <a:solidFill>
                  <a:srgbClr val="38BDF8"/>
                </a:solidFill>
              </a:defRPr>
            </a:pPr>
            <a:r>
              <a:t>1. Strategic Thesis</a:t>
            </a:r>
          </a:p>
          <a:p>
            <a:pPr>
              <a:spcBef>
                <a:spcPts val="500"/>
              </a:spcBef>
              <a:defRPr sz="1050">
                <a:solidFill>
                  <a:srgbClr val="94A3B8"/>
                </a:solidFill>
              </a:defRPr>
            </a:pPr>
            <a:r>
              <a:t>• India's GCC Market at Scale: 1,580+ active GCCs employing 1.66M+ professionals, generating $64B+ in direct economic output.</a:t>
            </a:r>
          </a:p>
          <a:p>
            <a:pPr>
              <a:spcBef>
                <a:spcPts val="500"/>
              </a:spcBef>
              <a:defRPr sz="1050">
                <a:solidFill>
                  <a:srgbClr val="94A3B8"/>
                </a:solidFill>
              </a:defRPr>
            </a:pPr>
            <a:r>
              <a:t>• The Expansion Boom: Over 500 new multinational GCCs projected by 2030, driven by AI R&amp;D, engineering decentralization, and digital operations.</a:t>
            </a:r>
          </a:p>
          <a:p>
            <a:pPr>
              <a:spcBef>
                <a:spcPts val="500"/>
              </a:spcBef>
              <a:defRPr sz="1050">
                <a:solidFill>
                  <a:srgbClr val="94A3B8"/>
                </a:solidFill>
              </a:defRPr>
            </a:pPr>
            <a:r>
              <a:t>• The Advisory Problem: Site selection feasibility relies on 6-month consulting engagements ($150k-$300k retainers) with stale, static PDF reports.</a:t>
            </a:r>
          </a:p>
          <a:p>
            <a:pPr>
              <a:spcBef>
                <a:spcPts val="500"/>
              </a:spcBef>
              <a:defRPr sz="1050">
                <a:solidFill>
                  <a:srgbClr val="94A3B8"/>
                </a:solidFill>
              </a:defRPr>
            </a:pPr>
            <a:r>
              <a:t>• The GCC Intel Solution: Compresses 6 months of feasibility research into sub-minute parametric simulations and verifiable AI advisory.</a:t>
            </a:r>
          </a:p>
        </p:txBody>
      </p:sp>
      <p:sp>
        <p:nvSpPr>
          <p:cNvPr id="7" name="Rounded Rectangle 6"/>
          <p:cNvSpPr/>
          <p:nvPr/>
        </p:nvSpPr>
        <p:spPr>
          <a:xfrm>
            <a:off x="4389120" y="1508760"/>
            <a:ext cx="329184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0288" y="1673351"/>
            <a:ext cx="2889504" cy="4425696"/>
          </a:xfrm>
          <a:prstGeom prst="rect">
            <a:avLst/>
          </a:prstGeom>
          <a:noFill/>
        </p:spPr>
        <p:txBody>
          <a:bodyPr wrap="square">
            <a:spAutoFit/>
          </a:bodyPr>
          <a:lstStyle/>
          <a:p>
            <a:pPr>
              <a:defRPr sz="1300" b="1">
                <a:solidFill>
                  <a:srgbClr val="10B981"/>
                </a:solidFill>
              </a:defRPr>
            </a:pPr>
            <a:r>
              <a:t>2. Core Value Proposition</a:t>
            </a:r>
          </a:p>
          <a:p>
            <a:pPr>
              <a:spcBef>
                <a:spcPts val="500"/>
              </a:spcBef>
              <a:defRPr sz="1050">
                <a:solidFill>
                  <a:srgbClr val="94A3B8"/>
                </a:solidFill>
              </a:defRPr>
            </a:pPr>
            <a:r>
              <a:t>• Parametric OpEx Modeling: Real-time simulation of office lease outlays, engineering payrolls, and state subsidies based on headcount sliders.</a:t>
            </a:r>
          </a:p>
          <a:p>
            <a:pPr>
              <a:spcBef>
                <a:spcPts val="500"/>
              </a:spcBef>
              <a:defRPr sz="1050">
                <a:solidFill>
                  <a:srgbClr val="94A3B8"/>
                </a:solidFill>
              </a:defRPr>
            </a:pPr>
            <a:r>
              <a:t>• Curated Fact-Checked Registry: 32 audited enterprise case dossiers with verified actual headcounts and expansion signals.</a:t>
            </a:r>
          </a:p>
          <a:p>
            <a:pPr>
              <a:spcBef>
                <a:spcPts val="500"/>
              </a:spcBef>
              <a:defRPr sz="1050">
                <a:solidFill>
                  <a:srgbClr val="94A3B8"/>
                </a:solidFill>
              </a:defRPr>
            </a:pPr>
            <a:r>
              <a:t>• 5 Tier-1 Metros Matrix: Granular micro-market rental spreads (CBRE Q2 2024) and compensation matrices (Michael Page 2024).</a:t>
            </a:r>
          </a:p>
          <a:p>
            <a:pPr>
              <a:spcBef>
                <a:spcPts val="500"/>
              </a:spcBef>
              <a:defRPr sz="1050">
                <a:solidFill>
                  <a:srgbClr val="94A3B8"/>
                </a:solidFill>
              </a:defRPr>
            </a:pPr>
            <a:r>
              <a:t>• Verifiable Research Agent: LangGraph multi-step agent with automated source auditing and zero-hallucination guardrails.</a:t>
            </a:r>
          </a:p>
        </p:txBody>
      </p:sp>
      <p:sp>
        <p:nvSpPr>
          <p:cNvPr id="9" name="Rounded Rectangle 8"/>
          <p:cNvSpPr/>
          <p:nvPr/>
        </p:nvSpPr>
        <p:spPr>
          <a:xfrm>
            <a:off x="8046720" y="1508760"/>
            <a:ext cx="33832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7888" y="1673351"/>
            <a:ext cx="2980944" cy="4425696"/>
          </a:xfrm>
          <a:prstGeom prst="rect">
            <a:avLst/>
          </a:prstGeom>
          <a:noFill/>
        </p:spPr>
        <p:txBody>
          <a:bodyPr wrap="square">
            <a:spAutoFit/>
          </a:bodyPr>
          <a:lstStyle/>
          <a:p>
            <a:pPr>
              <a:defRPr sz="1300" b="1">
                <a:solidFill>
                  <a:srgbClr val="F59E0B"/>
                </a:solidFill>
              </a:defRPr>
            </a:pPr>
            <a:r>
              <a:t>3. Production Proof &amp; Impact</a:t>
            </a:r>
          </a:p>
          <a:p>
            <a:pPr>
              <a:spcBef>
                <a:spcPts val="500"/>
              </a:spcBef>
              <a:defRPr sz="1050">
                <a:solidFill>
                  <a:srgbClr val="94A3B8"/>
                </a:solidFill>
              </a:defRPr>
            </a:pPr>
            <a:r>
              <a:t>• Fully Operational Software: Deployed live to production with zero placeholder data or mockup screens.</a:t>
            </a:r>
          </a:p>
          <a:p>
            <a:pPr>
              <a:spcBef>
                <a:spcPts val="500"/>
              </a:spcBef>
              <a:defRPr sz="1050">
                <a:solidFill>
                  <a:srgbClr val="94A3B8"/>
                </a:solidFill>
              </a:defRPr>
            </a:pPr>
            <a:r>
              <a:t>• Evidence-Backed Grounding: 15 canonical industry sources tracked (NASSCOM, CBRE, Michael Page, State Gazettes).</a:t>
            </a:r>
          </a:p>
          <a:p>
            <a:pPr>
              <a:spcBef>
                <a:spcPts val="500"/>
              </a:spcBef>
              <a:defRPr sz="1050">
                <a:solidFill>
                  <a:srgbClr val="94A3B8"/>
                </a:solidFill>
              </a:defRPr>
            </a:pPr>
            <a:r>
              <a:t>• Deterministic Math Engine: Safe Python AST calculation prevents financial and rental hallucinations.</a:t>
            </a:r>
          </a:p>
          <a:p>
            <a:pPr>
              <a:spcBef>
                <a:spcPts val="500"/>
              </a:spcBef>
              <a:defRPr sz="1050">
                <a:solidFill>
                  <a:srgbClr val="94A3B8"/>
                </a:solidFill>
              </a:defRPr>
            </a:pPr>
            <a:r>
              <a:t>• Audited Live Execution: Verified sub-7 second response times on complex multi-city enterprise queries.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PROBLEM STATEMENT</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The Enterprise GCC Information Gap: Four Critical Pain Points</a:t>
            </a:r>
          </a:p>
        </p:txBody>
      </p:sp>
      <p:sp>
        <p:nvSpPr>
          <p:cNvPr id="5" name="Rounded Rectangle 4"/>
          <p:cNvSpPr/>
          <p:nvPr/>
        </p:nvSpPr>
        <p:spPr>
          <a:xfrm>
            <a:off x="7315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2066544" cy="4425696"/>
          </a:xfrm>
          <a:prstGeom prst="rect">
            <a:avLst/>
          </a:prstGeom>
          <a:noFill/>
        </p:spPr>
        <p:txBody>
          <a:bodyPr wrap="square">
            <a:spAutoFit/>
          </a:bodyPr>
          <a:lstStyle/>
          <a:p>
            <a:pPr>
              <a:defRPr sz="1300" b="1">
                <a:solidFill>
                  <a:srgbClr val="38BDF8"/>
                </a:solidFill>
              </a:defRPr>
            </a:pPr>
            <a:r>
              <a:t>1. Blended Real Estate</a:t>
            </a:r>
          </a:p>
          <a:p>
            <a:pPr>
              <a:spcBef>
                <a:spcPts val="500"/>
              </a:spcBef>
              <a:defRPr sz="1050">
                <a:solidFill>
                  <a:srgbClr val="94A3B8"/>
                </a:solidFill>
              </a:defRPr>
            </a:pPr>
            <a:r>
              <a:t>• City-wide averages conceal extreme corridor variance.</a:t>
            </a:r>
          </a:p>
          <a:p>
            <a:pPr>
              <a:spcBef>
                <a:spcPts val="500"/>
              </a:spcBef>
              <a:defRPr sz="1050">
                <a:solidFill>
                  <a:srgbClr val="94A3B8"/>
                </a:solidFill>
              </a:defRPr>
            </a:pPr>
            <a:r>
              <a:t>• Bengaluru ORR (₹125/sqft/mo) vs Electronic City (₹55/sqft/mo) differ by over 125%.</a:t>
            </a:r>
          </a:p>
          <a:p>
            <a:pPr>
              <a:spcBef>
                <a:spcPts val="500"/>
              </a:spcBef>
              <a:defRPr sz="1050">
                <a:solidFill>
                  <a:srgbClr val="94A3B8"/>
                </a:solidFill>
              </a:defRPr>
            </a:pPr>
            <a:r>
              <a:t>• Lease decisions risk multi-crore budget variances without micro-market granularity.</a:t>
            </a:r>
          </a:p>
          <a:p>
            <a:pPr>
              <a:spcBef>
                <a:spcPts val="500"/>
              </a:spcBef>
              <a:defRPr sz="1050">
                <a:solidFill>
                  <a:srgbClr val="94A3B8"/>
                </a:solidFill>
              </a:defRPr>
            </a:pPr>
            <a:r>
              <a:t>• Lack of real-time vacancy tracking causes costly corridor mismatches.</a:t>
            </a:r>
          </a:p>
        </p:txBody>
      </p:sp>
      <p:sp>
        <p:nvSpPr>
          <p:cNvPr id="7" name="Rounded Rectangle 6"/>
          <p:cNvSpPr/>
          <p:nvPr/>
        </p:nvSpPr>
        <p:spPr>
          <a:xfrm>
            <a:off x="34747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75887" y="1673351"/>
            <a:ext cx="2066544" cy="4425696"/>
          </a:xfrm>
          <a:prstGeom prst="rect">
            <a:avLst/>
          </a:prstGeom>
          <a:noFill/>
        </p:spPr>
        <p:txBody>
          <a:bodyPr wrap="square">
            <a:spAutoFit/>
          </a:bodyPr>
          <a:lstStyle/>
          <a:p>
            <a:pPr>
              <a:defRPr sz="1300" b="1">
                <a:solidFill>
                  <a:srgbClr val="38BDF8"/>
                </a:solidFill>
              </a:defRPr>
            </a:pPr>
            <a:r>
              <a:t>2. Target Inflation</a:t>
            </a:r>
          </a:p>
          <a:p>
            <a:pPr>
              <a:spcBef>
                <a:spcPts val="500"/>
              </a:spcBef>
              <a:defRPr sz="1050">
                <a:solidFill>
                  <a:srgbClr val="94A3B8"/>
                </a:solidFill>
              </a:defRPr>
            </a:pPr>
            <a:r>
              <a:t>• Corporate press releases routinely announce '5,000-person vision' headcounts.</a:t>
            </a:r>
          </a:p>
          <a:p>
            <a:pPr>
              <a:spcBef>
                <a:spcPts val="500"/>
              </a:spcBef>
              <a:defRPr sz="1050">
                <a:solidFill>
                  <a:srgbClr val="94A3B8"/>
                </a:solidFill>
              </a:defRPr>
            </a:pPr>
            <a:r>
              <a:t>• Actual day-1 operational team size is typically 250-500 engineers.</a:t>
            </a:r>
          </a:p>
          <a:p>
            <a:pPr>
              <a:spcBef>
                <a:spcPts val="500"/>
              </a:spcBef>
              <a:defRPr sz="1050">
                <a:solidFill>
                  <a:srgbClr val="94A3B8"/>
                </a:solidFill>
              </a:defRPr>
            </a:pPr>
            <a:r>
              <a:t>• Competitor benchmarking based on unverified announcements distorts capacity planning.</a:t>
            </a:r>
          </a:p>
          <a:p>
            <a:pPr>
              <a:spcBef>
                <a:spcPts val="500"/>
              </a:spcBef>
              <a:defRPr sz="1050">
                <a:solidFill>
                  <a:srgbClr val="94A3B8"/>
                </a:solidFill>
              </a:defRPr>
            </a:pPr>
            <a:r>
              <a:t>• Enterprises lack audited actuals vs announced projections.</a:t>
            </a:r>
          </a:p>
        </p:txBody>
      </p:sp>
      <p:sp>
        <p:nvSpPr>
          <p:cNvPr id="9" name="Rounded Rectangle 8"/>
          <p:cNvSpPr/>
          <p:nvPr/>
        </p:nvSpPr>
        <p:spPr>
          <a:xfrm>
            <a:off x="62179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673351"/>
            <a:ext cx="2066544" cy="4425696"/>
          </a:xfrm>
          <a:prstGeom prst="rect">
            <a:avLst/>
          </a:prstGeom>
          <a:noFill/>
        </p:spPr>
        <p:txBody>
          <a:bodyPr wrap="square">
            <a:spAutoFit/>
          </a:bodyPr>
          <a:lstStyle/>
          <a:p>
            <a:pPr>
              <a:defRPr sz="1300" b="1">
                <a:solidFill>
                  <a:srgbClr val="38BDF8"/>
                </a:solidFill>
              </a:defRPr>
            </a:pPr>
            <a:r>
              <a:t>3. Obscure Subsidies</a:t>
            </a:r>
          </a:p>
          <a:p>
            <a:pPr>
              <a:spcBef>
                <a:spcPts val="500"/>
              </a:spcBef>
              <a:defRPr sz="1050">
                <a:solidFill>
                  <a:srgbClr val="94A3B8"/>
                </a:solidFill>
              </a:defRPr>
            </a:pPr>
            <a:r>
              <a:t>• State incentives are buried in complex 60-page PDF policy gazettes.</a:t>
            </a:r>
          </a:p>
          <a:p>
            <a:pPr>
              <a:spcBef>
                <a:spcPts val="500"/>
              </a:spcBef>
              <a:defRPr sz="1050">
                <a:solidFill>
                  <a:srgbClr val="94A3B8"/>
                </a:solidFill>
              </a:defRPr>
            </a:pPr>
            <a:r>
              <a:t>• Tamil Nadu offers ₹4,000/seat/mo training subsidies and stamp duty waivers.</a:t>
            </a:r>
          </a:p>
          <a:p>
            <a:pPr>
              <a:spcBef>
                <a:spcPts val="500"/>
              </a:spcBef>
              <a:defRPr sz="1050">
                <a:solidFill>
                  <a:srgbClr val="94A3B8"/>
                </a:solidFill>
              </a:defRPr>
            </a:pPr>
            <a:r>
              <a:t>• Telangana TS-iPASS grants 30-day deemed clearances.</a:t>
            </a:r>
          </a:p>
          <a:p>
            <a:pPr>
              <a:spcBef>
                <a:spcPts val="500"/>
              </a:spcBef>
              <a:defRPr sz="1050">
                <a:solidFill>
                  <a:srgbClr val="94A3B8"/>
                </a:solidFill>
              </a:defRPr>
            </a:pPr>
            <a:r>
              <a:t>• Over 65% of new entrants fail to claim entitled statutory grants.</a:t>
            </a:r>
          </a:p>
        </p:txBody>
      </p:sp>
      <p:sp>
        <p:nvSpPr>
          <p:cNvPr id="11" name="Rounded Rectangle 10"/>
          <p:cNvSpPr/>
          <p:nvPr/>
        </p:nvSpPr>
        <p:spPr>
          <a:xfrm>
            <a:off x="89611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62288" y="1673351"/>
            <a:ext cx="2066544" cy="4425696"/>
          </a:xfrm>
          <a:prstGeom prst="rect">
            <a:avLst/>
          </a:prstGeom>
          <a:noFill/>
        </p:spPr>
        <p:txBody>
          <a:bodyPr wrap="square">
            <a:spAutoFit/>
          </a:bodyPr>
          <a:lstStyle/>
          <a:p>
            <a:pPr>
              <a:defRPr sz="1300" b="1">
                <a:solidFill>
                  <a:srgbClr val="F59E0B"/>
                </a:solidFill>
              </a:defRPr>
            </a:pPr>
            <a:r>
              <a:t>4. AI Hallucinations</a:t>
            </a:r>
          </a:p>
          <a:p>
            <a:pPr>
              <a:spcBef>
                <a:spcPts val="500"/>
              </a:spcBef>
              <a:defRPr sz="1050">
                <a:solidFill>
                  <a:srgbClr val="94A3B8"/>
                </a:solidFill>
              </a:defRPr>
            </a:pPr>
            <a:r>
              <a:t>• Generic LLM chatbots fabricate compensation bands, invent fake centers, and cite broken links.</a:t>
            </a:r>
          </a:p>
          <a:p>
            <a:pPr>
              <a:spcBef>
                <a:spcPts val="500"/>
              </a:spcBef>
              <a:defRPr sz="1050">
                <a:solidFill>
                  <a:srgbClr val="94A3B8"/>
                </a:solidFill>
              </a:defRPr>
            </a:pPr>
            <a:r>
              <a:t>• In a $50M expansion decision, ungrounded AI answers introduce catastrophic legal &amp; capex risk.</a:t>
            </a:r>
          </a:p>
          <a:p>
            <a:pPr>
              <a:spcBef>
                <a:spcPts val="500"/>
              </a:spcBef>
              <a:defRPr sz="1050">
                <a:solidFill>
                  <a:srgbClr val="94A3B8"/>
                </a:solidFill>
              </a:defRPr>
            </a:pPr>
            <a:r>
              <a:t>• Enterprises demand strict mathematical accuracy and primary source traceability.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MARKET OPPORTUNITY</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A High-Margin B2B SaaS &amp; Advisory Market Driven by Global Decoupling</a:t>
            </a:r>
          </a:p>
        </p:txBody>
      </p:sp>
      <p:sp>
        <p:nvSpPr>
          <p:cNvPr id="5" name="Rounded Rectangle 4"/>
          <p:cNvSpPr/>
          <p:nvPr/>
        </p:nvSpPr>
        <p:spPr>
          <a:xfrm>
            <a:off x="731520" y="1508760"/>
            <a:ext cx="3291840" cy="4754880"/>
          </a:xfrm>
          <a:prstGeom prst="roundRect">
            <a:avLst/>
          </a:prstGeom>
          <a:solidFill>
            <a:srgbClr val="0E16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2889504" cy="4425696"/>
          </a:xfrm>
          <a:prstGeom prst="rect">
            <a:avLst/>
          </a:prstGeom>
          <a:noFill/>
        </p:spPr>
        <p:txBody>
          <a:bodyPr wrap="square">
            <a:spAutoFit/>
          </a:bodyPr>
          <a:lstStyle/>
          <a:p>
            <a:pPr>
              <a:defRPr sz="1300" b="1">
                <a:solidFill>
                  <a:srgbClr val="38BDF8"/>
                </a:solidFill>
              </a:defRPr>
            </a:pPr>
            <a:r>
              <a:t>TAM: $4.8 Billion</a:t>
            </a:r>
          </a:p>
          <a:p>
            <a:pPr>
              <a:spcBef>
                <a:spcPts val="500"/>
              </a:spcBef>
              <a:defRPr sz="1050">
                <a:solidFill>
                  <a:srgbClr val="94A3B8"/>
                </a:solidFill>
              </a:defRPr>
            </a:pPr>
            <a:r>
              <a:t>• Global Corporate Location Intelligence &amp; Site Selection Advisory.</a:t>
            </a:r>
          </a:p>
          <a:p>
            <a:pPr>
              <a:spcBef>
                <a:spcPts val="500"/>
              </a:spcBef>
              <a:defRPr sz="1050">
                <a:solidFill>
                  <a:srgbClr val="94A3B8"/>
                </a:solidFill>
              </a:defRPr>
            </a:pPr>
            <a:r>
              <a:t>• Fortune 2000 enterprises spend billions annually on Big-4 retainers, real estate brokerage advisory, and global talent mapping.</a:t>
            </a:r>
          </a:p>
          <a:p>
            <a:pPr>
              <a:spcBef>
                <a:spcPts val="500"/>
              </a:spcBef>
              <a:defRPr sz="1050">
                <a:solidFill>
                  <a:srgbClr val="94A3B8"/>
                </a:solidFill>
              </a:defRPr>
            </a:pPr>
            <a:r>
              <a:t>• Accelerated by nearshoring, tech cost optimization, and AI capability center establishment.</a:t>
            </a:r>
          </a:p>
        </p:txBody>
      </p:sp>
      <p:sp>
        <p:nvSpPr>
          <p:cNvPr id="7" name="Rounded Rectangle 6"/>
          <p:cNvSpPr/>
          <p:nvPr/>
        </p:nvSpPr>
        <p:spPr>
          <a:xfrm>
            <a:off x="4389120" y="1508760"/>
            <a:ext cx="3291840" cy="4754880"/>
          </a:xfrm>
          <a:prstGeom prst="roundRect">
            <a:avLst/>
          </a:prstGeom>
          <a:solidFill>
            <a:srgbClr val="0E16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0288" y="1673351"/>
            <a:ext cx="2889504" cy="4425696"/>
          </a:xfrm>
          <a:prstGeom prst="rect">
            <a:avLst/>
          </a:prstGeom>
          <a:noFill/>
        </p:spPr>
        <p:txBody>
          <a:bodyPr wrap="square">
            <a:spAutoFit/>
          </a:bodyPr>
          <a:lstStyle/>
          <a:p>
            <a:pPr>
              <a:defRPr sz="1300" b="1">
                <a:solidFill>
                  <a:srgbClr val="10B981"/>
                </a:solidFill>
              </a:defRPr>
            </a:pPr>
            <a:r>
              <a:t>SAM: $720 Million</a:t>
            </a:r>
          </a:p>
          <a:p>
            <a:pPr>
              <a:spcBef>
                <a:spcPts val="500"/>
              </a:spcBef>
              <a:defRPr sz="1050">
                <a:solidFill>
                  <a:srgbClr val="94A3B8"/>
                </a:solidFill>
              </a:defRPr>
            </a:pPr>
            <a:r>
              <a:t>• India-Specific GCC Feasibility Advisory, EOR Incubation &amp; Strategic Setup.</a:t>
            </a:r>
          </a:p>
          <a:p>
            <a:pPr>
              <a:spcBef>
                <a:spcPts val="500"/>
              </a:spcBef>
              <a:defRPr sz="1050">
                <a:solidFill>
                  <a:srgbClr val="94A3B8"/>
                </a:solidFill>
              </a:defRPr>
            </a:pPr>
            <a:r>
              <a:t>• 500+ new multinational GCCs entering India between 2024 and 2030.</a:t>
            </a:r>
          </a:p>
          <a:p>
            <a:pPr>
              <a:spcBef>
                <a:spcPts val="500"/>
              </a:spcBef>
              <a:defRPr sz="1050">
                <a:solidFill>
                  <a:srgbClr val="94A3B8"/>
                </a:solidFill>
              </a:defRPr>
            </a:pPr>
            <a:r>
              <a:t>• Each incoming enterprise allocates $150k-$500k in preliminary location studies, vendor selections, and statutory policy filings.</a:t>
            </a:r>
          </a:p>
        </p:txBody>
      </p:sp>
      <p:sp>
        <p:nvSpPr>
          <p:cNvPr id="9" name="Rounded Rectangle 8"/>
          <p:cNvSpPr/>
          <p:nvPr/>
        </p:nvSpPr>
        <p:spPr>
          <a:xfrm>
            <a:off x="8046720" y="1508760"/>
            <a:ext cx="3383280" cy="4754880"/>
          </a:xfrm>
          <a:prstGeom prst="roundRect">
            <a:avLst/>
          </a:prstGeom>
          <a:solidFill>
            <a:srgbClr val="0E16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7888" y="1673351"/>
            <a:ext cx="2980944" cy="4425696"/>
          </a:xfrm>
          <a:prstGeom prst="rect">
            <a:avLst/>
          </a:prstGeom>
          <a:noFill/>
        </p:spPr>
        <p:txBody>
          <a:bodyPr wrap="square">
            <a:spAutoFit/>
          </a:bodyPr>
          <a:lstStyle/>
          <a:p>
            <a:pPr>
              <a:defRPr sz="1300" b="1">
                <a:solidFill>
                  <a:srgbClr val="F59E0B"/>
                </a:solidFill>
              </a:defRPr>
            </a:pPr>
            <a:r>
              <a:t>SOM: $18 Million (Year 3)</a:t>
            </a:r>
          </a:p>
          <a:p>
            <a:pPr>
              <a:spcBef>
                <a:spcPts val="500"/>
              </a:spcBef>
              <a:defRPr sz="1050">
                <a:solidFill>
                  <a:srgbClr val="94A3B8"/>
                </a:solidFill>
              </a:defRPr>
            </a:pPr>
            <a:r>
              <a:t>• Capturing 3.5% of annual incoming and expanding mid-market/enterprise GCC feasibility workflows.</a:t>
            </a:r>
          </a:p>
          <a:p>
            <a:pPr>
              <a:spcBef>
                <a:spcPts val="500"/>
              </a:spcBef>
              <a:defRPr sz="1050">
                <a:solidFill>
                  <a:srgbClr val="94A3B8"/>
                </a:solidFill>
              </a:defRPr>
            </a:pPr>
            <a:r>
              <a:t>• Monetized via enterprise terminal subscriptions ($5k-$25k/seat/year) and vetted vendor referral commissions.</a:t>
            </a:r>
          </a:p>
          <a:p>
            <a:pPr>
              <a:spcBef>
                <a:spcPts val="500"/>
              </a:spcBef>
              <a:defRPr sz="1050">
                <a:solidFill>
                  <a:srgbClr val="94A3B8"/>
                </a:solidFill>
              </a:defRPr>
            </a:pPr>
            <a:r>
              <a:t>• Expansion into continuous compensation &amp; real estate index monitoring.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TARGET CUSTOMERS</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Multi-Stakeholder B2B Decision-Making Unit</a:t>
            </a:r>
          </a:p>
        </p:txBody>
      </p:sp>
      <p:sp>
        <p:nvSpPr>
          <p:cNvPr id="5" name="Rounded Rectangle 4"/>
          <p:cNvSpPr/>
          <p:nvPr/>
        </p:nvSpPr>
        <p:spPr>
          <a:xfrm>
            <a:off x="7315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2066544" cy="4425696"/>
          </a:xfrm>
          <a:prstGeom prst="rect">
            <a:avLst/>
          </a:prstGeom>
          <a:noFill/>
        </p:spPr>
        <p:txBody>
          <a:bodyPr wrap="square">
            <a:spAutoFit/>
          </a:bodyPr>
          <a:lstStyle/>
          <a:p>
            <a:pPr>
              <a:defRPr sz="1300" b="1">
                <a:solidFill>
                  <a:srgbClr val="38BDF8"/>
                </a:solidFill>
              </a:defRPr>
            </a:pPr>
            <a:r>
              <a:t>CIO / VP Engineering</a:t>
            </a:r>
          </a:p>
          <a:p>
            <a:pPr>
              <a:spcBef>
                <a:spcPts val="500"/>
              </a:spcBef>
              <a:defRPr sz="1050">
                <a:solidFill>
                  <a:srgbClr val="94A3B8"/>
                </a:solidFill>
              </a:defRPr>
            </a:pPr>
            <a:r>
              <a:t>• Profile: US/EU technology leaders establishing a 150-500 person engineering hub.</a:t>
            </a:r>
          </a:p>
          <a:p>
            <a:pPr>
              <a:spcBef>
                <a:spcPts val="500"/>
              </a:spcBef>
              <a:defRPr sz="1050">
                <a:solidFill>
                  <a:srgbClr val="94A3B8"/>
                </a:solidFill>
              </a:defRPr>
            </a:pPr>
            <a:r>
              <a:t>• Key Need: Validating niche talent depth (AI/ML, Cloud, Embedded, Quant) and attrition rates.</a:t>
            </a:r>
          </a:p>
          <a:p>
            <a:pPr>
              <a:spcBef>
                <a:spcPts val="500"/>
              </a:spcBef>
              <a:defRPr sz="1050">
                <a:solidFill>
                  <a:srgbClr val="94A3B8"/>
                </a:solidFill>
              </a:defRPr>
            </a:pPr>
            <a:r>
              <a:t>• Value: Instant objective hub comparison without consulting bias.</a:t>
            </a:r>
          </a:p>
        </p:txBody>
      </p:sp>
      <p:sp>
        <p:nvSpPr>
          <p:cNvPr id="7" name="Rounded Rectangle 6"/>
          <p:cNvSpPr/>
          <p:nvPr/>
        </p:nvSpPr>
        <p:spPr>
          <a:xfrm>
            <a:off x="34747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75887" y="1673351"/>
            <a:ext cx="2066544" cy="4425696"/>
          </a:xfrm>
          <a:prstGeom prst="rect">
            <a:avLst/>
          </a:prstGeom>
          <a:noFill/>
        </p:spPr>
        <p:txBody>
          <a:bodyPr wrap="square">
            <a:spAutoFit/>
          </a:bodyPr>
          <a:lstStyle/>
          <a:p>
            <a:pPr>
              <a:defRPr sz="1300" b="1">
                <a:solidFill>
                  <a:srgbClr val="38BDF8"/>
                </a:solidFill>
              </a:defRPr>
            </a:pPr>
            <a:r>
              <a:t>CRE &amp; Workplace Head</a:t>
            </a:r>
          </a:p>
          <a:p>
            <a:pPr>
              <a:spcBef>
                <a:spcPts val="500"/>
              </a:spcBef>
              <a:defRPr sz="1050">
                <a:solidFill>
                  <a:srgbClr val="94A3B8"/>
                </a:solidFill>
              </a:defRPr>
            </a:pPr>
            <a:r>
              <a:t>• Profile: Corporate Real Estate directors budgeting Grade-A office leases across tech corridors.</a:t>
            </a:r>
          </a:p>
          <a:p>
            <a:pPr>
              <a:spcBef>
                <a:spcPts val="500"/>
              </a:spcBef>
              <a:defRPr sz="1050">
                <a:solidFill>
                  <a:srgbClr val="94A3B8"/>
                </a:solidFill>
              </a:defRPr>
            </a:pPr>
            <a:r>
              <a:t>• Key Need: Micro-market rental spreads, vacancy rates, and seat ratio standards (90 sqft/seat).</a:t>
            </a:r>
          </a:p>
          <a:p>
            <a:pPr>
              <a:spcBef>
                <a:spcPts val="500"/>
              </a:spcBef>
              <a:defRPr sz="1050">
                <a:solidFill>
                  <a:srgbClr val="94A3B8"/>
                </a:solidFill>
              </a:defRPr>
            </a:pPr>
            <a:r>
              <a:t>• Value: Rapid parametric modeling of annual lease outlays in INR Cr &amp; USD M.</a:t>
            </a:r>
          </a:p>
        </p:txBody>
      </p:sp>
      <p:sp>
        <p:nvSpPr>
          <p:cNvPr id="9" name="Rounded Rectangle 8"/>
          <p:cNvSpPr/>
          <p:nvPr/>
        </p:nvSpPr>
        <p:spPr>
          <a:xfrm>
            <a:off x="62179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673351"/>
            <a:ext cx="2066544" cy="4425696"/>
          </a:xfrm>
          <a:prstGeom prst="rect">
            <a:avLst/>
          </a:prstGeom>
          <a:noFill/>
        </p:spPr>
        <p:txBody>
          <a:bodyPr wrap="square">
            <a:spAutoFit/>
          </a:bodyPr>
          <a:lstStyle/>
          <a:p>
            <a:pPr>
              <a:defRPr sz="1300" b="1">
                <a:solidFill>
                  <a:srgbClr val="38BDF8"/>
                </a:solidFill>
              </a:defRPr>
            </a:pPr>
            <a:r>
              <a:t>PE Operating Partner</a:t>
            </a:r>
          </a:p>
          <a:p>
            <a:pPr>
              <a:spcBef>
                <a:spcPts val="500"/>
              </a:spcBef>
              <a:defRPr sz="1050">
                <a:solidFill>
                  <a:srgbClr val="94A3B8"/>
                </a:solidFill>
              </a:defRPr>
            </a:pPr>
            <a:r>
              <a:t>• Profile: Growth-stage portfolio operating leaders helping software companies establish India hubs.</a:t>
            </a:r>
          </a:p>
          <a:p>
            <a:pPr>
              <a:spcBef>
                <a:spcPts val="500"/>
              </a:spcBef>
              <a:defRPr sz="1050">
                <a:solidFill>
                  <a:srgbClr val="94A3B8"/>
                </a:solidFill>
              </a:defRPr>
            </a:pPr>
            <a:r>
              <a:t>• Key Need: EOR (Employer of Record) vs. Captive entity cost-benefit analysis.</a:t>
            </a:r>
          </a:p>
          <a:p>
            <a:pPr>
              <a:spcBef>
                <a:spcPts val="500"/>
              </a:spcBef>
              <a:defRPr sz="1050">
                <a:solidFill>
                  <a:srgbClr val="94A3B8"/>
                </a:solidFill>
              </a:defRPr>
            </a:pPr>
            <a:r>
              <a:t>• Value: Bypassing $150k consulting fees for preliminary feasibility.</a:t>
            </a:r>
          </a:p>
        </p:txBody>
      </p:sp>
      <p:sp>
        <p:nvSpPr>
          <p:cNvPr id="11" name="Rounded Rectangle 10"/>
          <p:cNvSpPr/>
          <p:nvPr/>
        </p:nvSpPr>
        <p:spPr>
          <a:xfrm>
            <a:off x="89611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62288" y="1673351"/>
            <a:ext cx="2066544" cy="4425696"/>
          </a:xfrm>
          <a:prstGeom prst="rect">
            <a:avLst/>
          </a:prstGeom>
          <a:noFill/>
        </p:spPr>
        <p:txBody>
          <a:bodyPr wrap="square">
            <a:spAutoFit/>
          </a:bodyPr>
          <a:lstStyle/>
          <a:p>
            <a:pPr>
              <a:defRPr sz="1300" b="1">
                <a:solidFill>
                  <a:srgbClr val="10B981"/>
                </a:solidFill>
              </a:defRPr>
            </a:pPr>
            <a:r>
              <a:t>State Investment Teams</a:t>
            </a:r>
          </a:p>
          <a:p>
            <a:pPr>
              <a:spcBef>
                <a:spcPts val="500"/>
              </a:spcBef>
              <a:defRPr sz="1050">
                <a:solidFill>
                  <a:srgbClr val="94A3B8"/>
                </a:solidFill>
              </a:defRPr>
            </a:pPr>
            <a:r>
              <a:t>• Profile: State IT investment agencies (Guidance TN, ITE&amp;C Telangana, Invest Karnataka).</a:t>
            </a:r>
          </a:p>
          <a:p>
            <a:pPr>
              <a:spcBef>
                <a:spcPts val="500"/>
              </a:spcBef>
              <a:defRPr sz="1050">
                <a:solidFill>
                  <a:srgbClr val="94A3B8"/>
                </a:solidFill>
              </a:defRPr>
            </a:pPr>
            <a:r>
              <a:t>• Key Need: Benchmarking state incentives vs competitor states to attract high-value R&amp;D.</a:t>
            </a:r>
          </a:p>
          <a:p>
            <a:pPr>
              <a:spcBef>
                <a:spcPts val="500"/>
              </a:spcBef>
              <a:defRPr sz="1050">
                <a:solidFill>
                  <a:srgbClr val="94A3B8"/>
                </a:solidFill>
              </a:defRPr>
            </a:pPr>
            <a:r>
              <a:t>• Value: Direct visibility to global decision-makers evaluating setup.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LIVE PLATFORM PROOF: OVERVIEW</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Macro Signals, Telemetry &amp; Curated Inquiry Showcase</a:t>
            </a:r>
          </a:p>
        </p:txBody>
      </p:sp>
      <p:sp>
        <p:nvSpPr>
          <p:cNvPr id="5" name="Rounded Rectangle 4"/>
          <p:cNvSpPr/>
          <p:nvPr/>
        </p:nvSpPr>
        <p:spPr>
          <a:xfrm>
            <a:off x="731520" y="1508760"/>
            <a:ext cx="502920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4626864" cy="4425696"/>
          </a:xfrm>
          <a:prstGeom prst="rect">
            <a:avLst/>
          </a:prstGeom>
          <a:noFill/>
        </p:spPr>
        <p:txBody>
          <a:bodyPr wrap="square">
            <a:spAutoFit/>
          </a:bodyPr>
          <a:lstStyle/>
          <a:p>
            <a:pPr>
              <a:defRPr sz="1300" b="1">
                <a:solidFill>
                  <a:srgbClr val="38BDF8"/>
                </a:solidFill>
              </a:defRPr>
            </a:pPr>
            <a:r>
              <a:t>Platform Terminal Architecture</a:t>
            </a:r>
          </a:p>
          <a:p>
            <a:pPr>
              <a:spcBef>
                <a:spcPts val="500"/>
              </a:spcBef>
              <a:defRPr sz="1050">
                <a:solidFill>
                  <a:srgbClr val="94A3B8"/>
                </a:solidFill>
              </a:defRPr>
            </a:pPr>
            <a:r>
              <a:t>• Macro Ecosystem Telemetry: Displays 1,580+ total operational GCCs, 1.66M+ specialized tech workforce, and $64B+ direct economic output (NASSCOM GCC 4.0).</a:t>
            </a:r>
          </a:p>
          <a:p>
            <a:pPr>
              <a:spcBef>
                <a:spcPts val="500"/>
              </a:spcBef>
              <a:defRPr sz="1050">
                <a:solidFill>
                  <a:srgbClr val="94A3B8"/>
                </a:solidFill>
              </a:defRPr>
            </a:pPr>
            <a:r>
              <a:t>• Curated Strategic Inquiry Cards: 1-click execution across BFSI, Life Sciences, State Policies, and Engineering Hub comparisons.</a:t>
            </a:r>
          </a:p>
          <a:p>
            <a:pPr>
              <a:spcBef>
                <a:spcPts val="500"/>
              </a:spcBef>
              <a:defRPr sz="1050">
                <a:solidFill>
                  <a:srgbClr val="94A3B8"/>
                </a:solidFill>
              </a:defRPr>
            </a:pPr>
            <a:r>
              <a:t>• Audited Dataset Registry: Monitored across 5 Tier-1 Metros (Bengaluru, Hyderabad, Chennai, Pune, Gurugram) with October 2024 verification cycle.</a:t>
            </a:r>
          </a:p>
          <a:p>
            <a:pPr>
              <a:spcBef>
                <a:spcPts val="500"/>
              </a:spcBef>
              <a:defRPr sz="1050">
                <a:solidFill>
                  <a:srgbClr val="94A3B8"/>
                </a:solidFill>
              </a:defRPr>
            </a:pPr>
            <a:r>
              <a:t>• Seamless Cloud Experience: Fully responsive dark-mode institutional UI hosted live on Streamlit Cloud with persistent session state.</a:t>
            </a:r>
          </a:p>
        </p:txBody>
      </p:sp>
      <p:sp>
        <p:nvSpPr>
          <p:cNvPr id="7" name="Rounded Rectangle 6"/>
          <p:cNvSpPr/>
          <p:nvPr/>
        </p:nvSpPr>
        <p:spPr>
          <a:xfrm>
            <a:off x="6035040" y="1508760"/>
            <a:ext cx="5394960" cy="4754880"/>
          </a:xfrm>
          <a:prstGeom prst="roundRect">
            <a:avLst/>
          </a:prstGeom>
          <a:solidFill>
            <a:srgbClr val="0E16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_overview.png"/>
          <p:cNvPicPr>
            <a:picLocks noChangeAspect="1"/>
          </p:cNvPicPr>
          <p:nvPr/>
        </p:nvPicPr>
        <p:blipFill>
          <a:blip r:embed="rId2"/>
          <a:stretch>
            <a:fillRect/>
          </a:stretch>
        </p:blipFill>
        <p:spPr>
          <a:xfrm>
            <a:off x="6172200" y="1645919"/>
            <a:ext cx="5120640" cy="2697480"/>
          </a:xfrm>
          <a:prstGeom prst="rect">
            <a:avLst/>
          </a:prstGeom>
        </p:spPr>
      </p:pic>
      <p:sp>
        <p:nvSpPr>
          <p:cNvPr id="9" name="TextBox 8"/>
          <p:cNvSpPr txBox="1"/>
          <p:nvPr/>
        </p:nvSpPr>
        <p:spPr>
          <a:xfrm>
            <a:off x="6217920" y="4407407"/>
            <a:ext cx="5029200" cy="1783080"/>
          </a:xfrm>
          <a:prstGeom prst="rect">
            <a:avLst/>
          </a:prstGeom>
          <a:noFill/>
        </p:spPr>
        <p:txBody>
          <a:bodyPr wrap="square">
            <a:spAutoFit/>
          </a:bodyPr>
          <a:lstStyle/>
          <a:p>
            <a:pPr>
              <a:defRPr sz="1100" b="1">
                <a:solidFill>
                  <a:srgbClr val="10B981"/>
                </a:solidFill>
              </a:defRPr>
            </a:pPr>
            <a:r>
              <a:t>🟢 LIVE PLATFORM PROOF: OVERVIEW &amp; SIGNALS TERMINAL</a:t>
            </a:r>
          </a:p>
          <a:p>
            <a:pPr>
              <a:spcBef>
                <a:spcPts val="300"/>
              </a:spcBef>
              <a:defRPr sz="950">
                <a:solidFill>
                  <a:srgbClr val="94A3B8"/>
                </a:solidFill>
              </a:defRPr>
            </a:pPr>
            <a:r>
              <a:t>✓ Live macro indicators: $64B+ economic value, 32 audited case profiles.</a:t>
            </a:r>
          </a:p>
          <a:p>
            <a:pPr>
              <a:spcBef>
                <a:spcPts val="300"/>
              </a:spcBef>
              <a:defRPr sz="950">
                <a:solidFill>
                  <a:srgbClr val="94A3B8"/>
                </a:solidFill>
              </a:defRPr>
            </a:pPr>
            <a:r>
              <a:t>✓ One-click curated inquiry cards for immediate agent execution.</a:t>
            </a:r>
          </a:p>
          <a:p>
            <a:pPr>
              <a:spcBef>
                <a:spcPts val="300"/>
              </a:spcBef>
              <a:defRPr sz="950">
                <a:solidFill>
                  <a:srgbClr val="94A3B8"/>
                </a:solidFill>
              </a:defRPr>
            </a:pPr>
            <a:r>
              <a:t>✓ Telemetry ribbon tracking CBRE Q2 2024 and Michael Page salary guides.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SYSTEM ARCHITECTURE</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Four-Tier Engineering Stack: Ingestion, Retrieval, Math &amp; Synthesis</a:t>
            </a:r>
          </a:p>
        </p:txBody>
      </p:sp>
      <p:sp>
        <p:nvSpPr>
          <p:cNvPr id="5" name="Rounded Rectangle 4"/>
          <p:cNvSpPr/>
          <p:nvPr/>
        </p:nvSpPr>
        <p:spPr>
          <a:xfrm>
            <a:off x="7315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2066544" cy="4425696"/>
          </a:xfrm>
          <a:prstGeom prst="rect">
            <a:avLst/>
          </a:prstGeom>
          <a:noFill/>
        </p:spPr>
        <p:txBody>
          <a:bodyPr wrap="square">
            <a:spAutoFit/>
          </a:bodyPr>
          <a:lstStyle/>
          <a:p>
            <a:pPr>
              <a:defRPr sz="1300" b="1">
                <a:solidFill>
                  <a:srgbClr val="38BDF8"/>
                </a:solidFill>
              </a:defRPr>
            </a:pPr>
            <a:r>
              <a:t>1. Ingestion Layer</a:t>
            </a:r>
          </a:p>
          <a:p>
            <a:pPr>
              <a:spcBef>
                <a:spcPts val="500"/>
              </a:spcBef>
              <a:defRPr sz="1050">
                <a:solidFill>
                  <a:srgbClr val="94A3B8"/>
                </a:solidFill>
              </a:defRPr>
            </a:pPr>
            <a:r>
              <a:t>• 4 Relational Datasets: 32 GCCs, 5 Metro Hubs, 8 Service Partners, 15 Source Registries.</a:t>
            </a:r>
          </a:p>
          <a:p>
            <a:pPr>
              <a:spcBef>
                <a:spcPts val="500"/>
              </a:spcBef>
              <a:defRPr sz="1050">
                <a:solidFill>
                  <a:srgbClr val="94A3B8"/>
                </a:solidFill>
              </a:defRPr>
            </a:pPr>
            <a:r>
              <a:t>• Schema Validation: Strictly typed Pydantic models for real estate, compensation, and policies.</a:t>
            </a:r>
          </a:p>
          <a:p>
            <a:pPr>
              <a:spcBef>
                <a:spcPts val="500"/>
              </a:spcBef>
              <a:defRPr sz="1050">
                <a:solidFill>
                  <a:srgbClr val="94A3B8"/>
                </a:solidFill>
              </a:defRPr>
            </a:pPr>
            <a:r>
              <a:t>• Canonical Gazettes: Official state IT policies from Karnataka, Tamil Nadu, and Telangana.</a:t>
            </a:r>
          </a:p>
        </p:txBody>
      </p:sp>
      <p:sp>
        <p:nvSpPr>
          <p:cNvPr id="7" name="Rounded Rectangle 6"/>
          <p:cNvSpPr/>
          <p:nvPr/>
        </p:nvSpPr>
        <p:spPr>
          <a:xfrm>
            <a:off x="34747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75887" y="1673351"/>
            <a:ext cx="2066544" cy="4425696"/>
          </a:xfrm>
          <a:prstGeom prst="rect">
            <a:avLst/>
          </a:prstGeom>
          <a:noFill/>
        </p:spPr>
        <p:txBody>
          <a:bodyPr wrap="square">
            <a:spAutoFit/>
          </a:bodyPr>
          <a:lstStyle/>
          <a:p>
            <a:pPr>
              <a:defRPr sz="1300" b="1">
                <a:solidFill>
                  <a:srgbClr val="38BDF8"/>
                </a:solidFill>
              </a:defRPr>
            </a:pPr>
            <a:r>
              <a:t>2. FAISS Vector Store</a:t>
            </a:r>
          </a:p>
          <a:p>
            <a:pPr>
              <a:spcBef>
                <a:spcPts val="500"/>
              </a:spcBef>
              <a:defRPr sz="1050">
                <a:solidFill>
                  <a:srgbClr val="94A3B8"/>
                </a:solidFill>
              </a:defRPr>
            </a:pPr>
            <a:r>
              <a:t>• gemini-embedding-2: 3072-dimensional dense semantic vector representations.</a:t>
            </a:r>
          </a:p>
          <a:p>
            <a:pPr>
              <a:spcBef>
                <a:spcPts val="500"/>
              </a:spcBef>
              <a:defRPr sz="1050">
                <a:solidFill>
                  <a:srgbClr val="94A3B8"/>
                </a:solidFill>
              </a:defRPr>
            </a:pPr>
            <a:r>
              <a:t>• Persistent CPU Index: On-disk index for ultra-low latency semantic similarity search (&lt;15ms).</a:t>
            </a:r>
          </a:p>
          <a:p>
            <a:pPr>
              <a:spcBef>
                <a:spcPts val="500"/>
              </a:spcBef>
              <a:defRPr sz="1050">
                <a:solidFill>
                  <a:srgbClr val="94A3B8"/>
                </a:solidFill>
              </a:defRPr>
            </a:pPr>
            <a:r>
              <a:t>• Deterministic Fallback: Robust keyword relevance fallback for unauthenticated runtime safety.</a:t>
            </a:r>
          </a:p>
        </p:txBody>
      </p:sp>
      <p:sp>
        <p:nvSpPr>
          <p:cNvPr id="9" name="Rounded Rectangle 8"/>
          <p:cNvSpPr/>
          <p:nvPr/>
        </p:nvSpPr>
        <p:spPr>
          <a:xfrm>
            <a:off x="62179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673351"/>
            <a:ext cx="2066544" cy="4425696"/>
          </a:xfrm>
          <a:prstGeom prst="rect">
            <a:avLst/>
          </a:prstGeom>
          <a:noFill/>
        </p:spPr>
        <p:txBody>
          <a:bodyPr wrap="square">
            <a:spAutoFit/>
          </a:bodyPr>
          <a:lstStyle/>
          <a:p>
            <a:pPr>
              <a:defRPr sz="1300" b="1">
                <a:solidFill>
                  <a:srgbClr val="10B981"/>
                </a:solidFill>
              </a:defRPr>
            </a:pPr>
            <a:r>
              <a:t>3. LangGraph &amp; Math</a:t>
            </a:r>
          </a:p>
          <a:p>
            <a:pPr>
              <a:spcBef>
                <a:spcPts val="500"/>
              </a:spcBef>
              <a:defRPr sz="1050">
                <a:solidFill>
                  <a:srgbClr val="94A3B8"/>
                </a:solidFill>
              </a:defRPr>
            </a:pPr>
            <a:r>
              <a:t>• LangGraph StateGraph: Directed multi-node execution with typed state preservation.</a:t>
            </a:r>
          </a:p>
          <a:p>
            <a:pPr>
              <a:spcBef>
                <a:spcPts val="500"/>
              </a:spcBef>
              <a:defRPr sz="1050">
                <a:solidFill>
                  <a:srgbClr val="94A3B8"/>
                </a:solidFill>
              </a:defRPr>
            </a:pPr>
            <a:r>
              <a:t>• Python AST Calculator: Evaluates mathematical formulas via AST node inspection to prevent hallucinations.</a:t>
            </a:r>
          </a:p>
          <a:p>
            <a:pPr>
              <a:spcBef>
                <a:spcPts val="500"/>
              </a:spcBef>
              <a:defRPr sz="1050">
                <a:solidFill>
                  <a:srgbClr val="94A3B8"/>
                </a:solidFill>
              </a:defRPr>
            </a:pPr>
            <a:r>
              <a:t>• Gemini Flash Multi-Model: Instant failover across active low-latency models.</a:t>
            </a:r>
          </a:p>
        </p:txBody>
      </p:sp>
      <p:sp>
        <p:nvSpPr>
          <p:cNvPr id="11" name="Rounded Rectangle 10"/>
          <p:cNvSpPr/>
          <p:nvPr/>
        </p:nvSpPr>
        <p:spPr>
          <a:xfrm>
            <a:off x="89611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62288" y="1673351"/>
            <a:ext cx="2066544" cy="4425696"/>
          </a:xfrm>
          <a:prstGeom prst="rect">
            <a:avLst/>
          </a:prstGeom>
          <a:noFill/>
        </p:spPr>
        <p:txBody>
          <a:bodyPr wrap="square">
            <a:spAutoFit/>
          </a:bodyPr>
          <a:lstStyle/>
          <a:p>
            <a:pPr>
              <a:defRPr sz="1300" b="1">
                <a:solidFill>
                  <a:srgbClr val="F59E0B"/>
                </a:solidFill>
              </a:defRPr>
            </a:pPr>
            <a:r>
              <a:t>4. Verification Engine</a:t>
            </a:r>
          </a:p>
          <a:p>
            <a:pPr>
              <a:spcBef>
                <a:spcPts val="500"/>
              </a:spcBef>
              <a:defRPr sz="1050">
                <a:solidFill>
                  <a:srgbClr val="94A3B8"/>
                </a:solidFill>
              </a:defRPr>
            </a:pPr>
            <a:r>
              <a:t>• Programmatic Overlap Audit: Validates numerical figures and cited URLs against source text in 0.002s.</a:t>
            </a:r>
          </a:p>
          <a:p>
            <a:pPr>
              <a:spcBef>
                <a:spcPts val="500"/>
              </a:spcBef>
              <a:defRPr sz="1050">
                <a:solidFill>
                  <a:srgbClr val="94A3B8"/>
                </a:solidFill>
              </a:defRPr>
            </a:pPr>
            <a:r>
              <a:t>• Zero-Hallucination Policy: Explicit refusal to invent when data is ungrounded.</a:t>
            </a:r>
          </a:p>
          <a:p>
            <a:pPr>
              <a:spcBef>
                <a:spcPts val="500"/>
              </a:spcBef>
              <a:defRPr sz="1050">
                <a:solidFill>
                  <a:srgbClr val="94A3B8"/>
                </a:solidFill>
              </a:defRPr>
            </a:pPr>
            <a:r>
              <a:t>• Frontend Delivery: Interactive Streamlit terminal with Altair charts.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OPERATIONAL WORKFLOW</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End-to-End System &amp; Agentic Execution Pipeline</a:t>
            </a:r>
          </a:p>
        </p:txBody>
      </p:sp>
      <p:sp>
        <p:nvSpPr>
          <p:cNvPr id="5" name="Rounded Rectangle 4"/>
          <p:cNvSpPr/>
          <p:nvPr/>
        </p:nvSpPr>
        <p:spPr>
          <a:xfrm>
            <a:off x="731520" y="1600200"/>
            <a:ext cx="1353312" cy="1097280"/>
          </a:xfrm>
          <a:prstGeom prst="roundRect">
            <a:avLst/>
          </a:prstGeom>
          <a:solidFill>
            <a:srgbClr val="0E16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73352"/>
            <a:ext cx="1261872" cy="950976"/>
          </a:xfrm>
          <a:prstGeom prst="rect">
            <a:avLst/>
          </a:prstGeom>
          <a:noFill/>
        </p:spPr>
        <p:txBody>
          <a:bodyPr wrap="square">
            <a:spAutoFit/>
          </a:bodyPr>
          <a:lstStyle/>
          <a:p>
            <a:pPr algn="ctr">
              <a:defRPr sz="950" b="1">
                <a:solidFill>
                  <a:srgbClr val="38BDF8"/>
                </a:solidFill>
              </a:defRPr>
            </a:pPr>
            <a:r>
              <a:t>1. User Inquiry</a:t>
            </a:r>
          </a:p>
          <a:p>
            <a:pPr algn="ctr">
              <a:spcBef>
                <a:spcPts val="300"/>
              </a:spcBef>
              <a:defRPr sz="800">
                <a:solidFill>
                  <a:srgbClr val="94A3B8"/>
                </a:solidFill>
              </a:defRPr>
            </a:pPr>
            <a:r>
              <a:t>Prompt or Headcount Slider Input</a:t>
            </a:r>
          </a:p>
        </p:txBody>
      </p:sp>
      <p:sp>
        <p:nvSpPr>
          <p:cNvPr id="7" name="Right Arrow 6"/>
          <p:cNvSpPr/>
          <p:nvPr/>
        </p:nvSpPr>
        <p:spPr>
          <a:xfrm>
            <a:off x="2121408" y="2011680"/>
            <a:ext cx="146304" cy="228600"/>
          </a:xfrm>
          <a:prstGeom prst="rightArrow">
            <a:avLst/>
          </a:prstGeom>
          <a:solidFill>
            <a:srgbClr val="22324F"/>
          </a:solidFill>
          <a:ln>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304288" y="1600200"/>
            <a:ext cx="1353312" cy="1097280"/>
          </a:xfrm>
          <a:prstGeom prst="roundRect">
            <a:avLst/>
          </a:prstGeom>
          <a:solidFill>
            <a:srgbClr val="0E16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50008" y="1673352"/>
            <a:ext cx="1261872" cy="950976"/>
          </a:xfrm>
          <a:prstGeom prst="rect">
            <a:avLst/>
          </a:prstGeom>
          <a:noFill/>
        </p:spPr>
        <p:txBody>
          <a:bodyPr wrap="square">
            <a:spAutoFit/>
          </a:bodyPr>
          <a:lstStyle/>
          <a:p>
            <a:pPr algn="ctr">
              <a:defRPr sz="950" b="1">
                <a:solidFill>
                  <a:srgbClr val="38BDF8"/>
                </a:solidFill>
              </a:defRPr>
            </a:pPr>
            <a:r>
              <a:t>2. Intent Routing</a:t>
            </a:r>
          </a:p>
          <a:p>
            <a:pPr algn="ctr">
              <a:spcBef>
                <a:spcPts val="300"/>
              </a:spcBef>
              <a:defRPr sz="800">
                <a:solidFill>
                  <a:srgbClr val="94A3B8"/>
                </a:solidFill>
              </a:defRPr>
            </a:pPr>
            <a:r>
              <a:t>Parametric vs Semantic Classifier</a:t>
            </a:r>
          </a:p>
        </p:txBody>
      </p:sp>
      <p:sp>
        <p:nvSpPr>
          <p:cNvPr id="10" name="Right Arrow 9"/>
          <p:cNvSpPr/>
          <p:nvPr/>
        </p:nvSpPr>
        <p:spPr>
          <a:xfrm>
            <a:off x="3694176" y="2011680"/>
            <a:ext cx="146304" cy="228600"/>
          </a:xfrm>
          <a:prstGeom prst="rightArrow">
            <a:avLst/>
          </a:prstGeom>
          <a:solidFill>
            <a:srgbClr val="22324F"/>
          </a:solidFill>
          <a:ln>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77056" y="1600200"/>
            <a:ext cx="1353312" cy="1097280"/>
          </a:xfrm>
          <a:prstGeom prst="roundRect">
            <a:avLst/>
          </a:prstGeom>
          <a:solidFill>
            <a:srgbClr val="0E16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22776" y="1673352"/>
            <a:ext cx="1261872" cy="950976"/>
          </a:xfrm>
          <a:prstGeom prst="rect">
            <a:avLst/>
          </a:prstGeom>
          <a:noFill/>
        </p:spPr>
        <p:txBody>
          <a:bodyPr wrap="square">
            <a:spAutoFit/>
          </a:bodyPr>
          <a:lstStyle/>
          <a:p>
            <a:pPr algn="ctr">
              <a:defRPr sz="950" b="1">
                <a:solidFill>
                  <a:srgbClr val="10B981"/>
                </a:solidFill>
              </a:defRPr>
            </a:pPr>
            <a:r>
              <a:t>3. Dual Retrieval</a:t>
            </a:r>
          </a:p>
          <a:p>
            <a:pPr algn="ctr">
              <a:spcBef>
                <a:spcPts val="300"/>
              </a:spcBef>
              <a:defRPr sz="800">
                <a:solidFill>
                  <a:srgbClr val="94A3B8"/>
                </a:solidFill>
              </a:defRPr>
            </a:pPr>
            <a:r>
              <a:t>FAISS Vectors + Relational JSON</a:t>
            </a:r>
          </a:p>
        </p:txBody>
      </p:sp>
      <p:sp>
        <p:nvSpPr>
          <p:cNvPr id="13" name="Right Arrow 12"/>
          <p:cNvSpPr/>
          <p:nvPr/>
        </p:nvSpPr>
        <p:spPr>
          <a:xfrm>
            <a:off x="5266944" y="2011680"/>
            <a:ext cx="146304" cy="228600"/>
          </a:xfrm>
          <a:prstGeom prst="rightArrow">
            <a:avLst/>
          </a:prstGeom>
          <a:solidFill>
            <a:srgbClr val="22324F"/>
          </a:solidFill>
          <a:ln>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49824" y="1600200"/>
            <a:ext cx="1353312" cy="1097280"/>
          </a:xfrm>
          <a:prstGeom prst="roundRect">
            <a:avLst/>
          </a:prstGeom>
          <a:solidFill>
            <a:srgbClr val="0E16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95544" y="1673352"/>
            <a:ext cx="1261872" cy="950976"/>
          </a:xfrm>
          <a:prstGeom prst="rect">
            <a:avLst/>
          </a:prstGeom>
          <a:noFill/>
        </p:spPr>
        <p:txBody>
          <a:bodyPr wrap="square">
            <a:spAutoFit/>
          </a:bodyPr>
          <a:lstStyle/>
          <a:p>
            <a:pPr algn="ctr">
              <a:defRPr sz="950" b="1">
                <a:solidFill>
                  <a:srgbClr val="F59E0B"/>
                </a:solidFill>
              </a:defRPr>
            </a:pPr>
            <a:r>
              <a:t>4. Safe AST Math</a:t>
            </a:r>
          </a:p>
          <a:p>
            <a:pPr algn="ctr">
              <a:spcBef>
                <a:spcPts val="300"/>
              </a:spcBef>
              <a:defRPr sz="800">
                <a:solidFill>
                  <a:srgbClr val="94A3B8"/>
                </a:solidFill>
              </a:defRPr>
            </a:pPr>
            <a:r>
              <a:t>Deterministic Lease &amp; Payroll Outlay</a:t>
            </a:r>
          </a:p>
        </p:txBody>
      </p:sp>
      <p:sp>
        <p:nvSpPr>
          <p:cNvPr id="16" name="Right Arrow 15"/>
          <p:cNvSpPr/>
          <p:nvPr/>
        </p:nvSpPr>
        <p:spPr>
          <a:xfrm>
            <a:off x="6839712" y="2011680"/>
            <a:ext cx="146304" cy="228600"/>
          </a:xfrm>
          <a:prstGeom prst="rightArrow">
            <a:avLst/>
          </a:prstGeom>
          <a:solidFill>
            <a:srgbClr val="22324F"/>
          </a:solidFill>
          <a:ln>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022592" y="1600200"/>
            <a:ext cx="1353312" cy="1097280"/>
          </a:xfrm>
          <a:prstGeom prst="roundRect">
            <a:avLst/>
          </a:prstGeom>
          <a:solidFill>
            <a:srgbClr val="0E16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68312" y="1673352"/>
            <a:ext cx="1261872" cy="950976"/>
          </a:xfrm>
          <a:prstGeom prst="rect">
            <a:avLst/>
          </a:prstGeom>
          <a:noFill/>
        </p:spPr>
        <p:txBody>
          <a:bodyPr wrap="square">
            <a:spAutoFit/>
          </a:bodyPr>
          <a:lstStyle/>
          <a:p>
            <a:pPr algn="ctr">
              <a:defRPr sz="950" b="1">
                <a:solidFill>
                  <a:srgbClr val="A855F7"/>
                </a:solidFill>
              </a:defRPr>
            </a:pPr>
            <a:r>
              <a:t>5. Flash Synthesis</a:t>
            </a:r>
          </a:p>
          <a:p>
            <a:pPr algn="ctr">
              <a:spcBef>
                <a:spcPts val="300"/>
              </a:spcBef>
              <a:defRPr sz="800">
                <a:solidFill>
                  <a:srgbClr val="94A3B8"/>
                </a:solidFill>
              </a:defRPr>
            </a:pPr>
            <a:r>
              <a:t>Structured Executive Memorandum</a:t>
            </a:r>
          </a:p>
        </p:txBody>
      </p:sp>
      <p:sp>
        <p:nvSpPr>
          <p:cNvPr id="19" name="Right Arrow 18"/>
          <p:cNvSpPr/>
          <p:nvPr/>
        </p:nvSpPr>
        <p:spPr>
          <a:xfrm>
            <a:off x="8412480" y="2011680"/>
            <a:ext cx="146304" cy="228600"/>
          </a:xfrm>
          <a:prstGeom prst="rightArrow">
            <a:avLst/>
          </a:prstGeom>
          <a:solidFill>
            <a:srgbClr val="22324F"/>
          </a:solidFill>
          <a:ln>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95360" y="1600200"/>
            <a:ext cx="1353312" cy="1097280"/>
          </a:xfrm>
          <a:prstGeom prst="roundRect">
            <a:avLst/>
          </a:prstGeom>
          <a:solidFill>
            <a:srgbClr val="0E16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41080" y="1673352"/>
            <a:ext cx="1261872" cy="950976"/>
          </a:xfrm>
          <a:prstGeom prst="rect">
            <a:avLst/>
          </a:prstGeom>
          <a:noFill/>
        </p:spPr>
        <p:txBody>
          <a:bodyPr wrap="square">
            <a:spAutoFit/>
          </a:bodyPr>
          <a:lstStyle/>
          <a:p>
            <a:pPr algn="ctr">
              <a:defRPr sz="950" b="1">
                <a:solidFill>
                  <a:srgbClr val="10B981"/>
                </a:solidFill>
              </a:defRPr>
            </a:pPr>
            <a:r>
              <a:t>6. Fact-Check Audit</a:t>
            </a:r>
          </a:p>
          <a:p>
            <a:pPr algn="ctr">
              <a:spcBef>
                <a:spcPts val="300"/>
              </a:spcBef>
              <a:defRPr sz="800">
                <a:solidFill>
                  <a:srgbClr val="94A3B8"/>
                </a:solidFill>
              </a:defRPr>
            </a:pPr>
            <a:r>
              <a:t>Programmatic &amp; Numerical Verifier</a:t>
            </a:r>
          </a:p>
        </p:txBody>
      </p:sp>
      <p:sp>
        <p:nvSpPr>
          <p:cNvPr id="22" name="Right Arrow 21"/>
          <p:cNvSpPr/>
          <p:nvPr/>
        </p:nvSpPr>
        <p:spPr>
          <a:xfrm>
            <a:off x="9985248" y="2011680"/>
            <a:ext cx="146304" cy="228600"/>
          </a:xfrm>
          <a:prstGeom prst="rightArrow">
            <a:avLst/>
          </a:prstGeom>
          <a:solidFill>
            <a:srgbClr val="22324F"/>
          </a:solidFill>
          <a:ln>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68128" y="1600200"/>
            <a:ext cx="1353312" cy="1097280"/>
          </a:xfrm>
          <a:prstGeom prst="roundRect">
            <a:avLst/>
          </a:prstGeom>
          <a:solidFill>
            <a:srgbClr val="0E16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13848" y="1673352"/>
            <a:ext cx="1261872" cy="950976"/>
          </a:xfrm>
          <a:prstGeom prst="rect">
            <a:avLst/>
          </a:prstGeom>
          <a:noFill/>
        </p:spPr>
        <p:txBody>
          <a:bodyPr wrap="square">
            <a:spAutoFit/>
          </a:bodyPr>
          <a:lstStyle/>
          <a:p>
            <a:pPr algn="ctr">
              <a:defRPr sz="950" b="1">
                <a:solidFill>
                  <a:srgbClr val="38BDF8"/>
                </a:solidFill>
              </a:defRPr>
            </a:pPr>
            <a:r>
              <a:t>7. Delivery Terminal</a:t>
            </a:r>
          </a:p>
          <a:p>
            <a:pPr algn="ctr">
              <a:spcBef>
                <a:spcPts val="300"/>
              </a:spcBef>
              <a:defRPr sz="800">
                <a:solidFill>
                  <a:srgbClr val="94A3B8"/>
                </a:solidFill>
              </a:defRPr>
            </a:pPr>
            <a:r>
              <a:t>Grounded Dossier with Citations</a:t>
            </a:r>
          </a:p>
        </p:txBody>
      </p:sp>
      <p:sp>
        <p:nvSpPr>
          <p:cNvPr id="25" name="Rounded Rectangle 24"/>
          <p:cNvSpPr/>
          <p:nvPr/>
        </p:nvSpPr>
        <p:spPr>
          <a:xfrm>
            <a:off x="731520" y="2971800"/>
            <a:ext cx="5120640" cy="329184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3136392"/>
            <a:ext cx="4718303" cy="2962656"/>
          </a:xfrm>
          <a:prstGeom prst="rect">
            <a:avLst/>
          </a:prstGeom>
          <a:noFill/>
        </p:spPr>
        <p:txBody>
          <a:bodyPr wrap="square">
            <a:spAutoFit/>
          </a:bodyPr>
          <a:lstStyle/>
          <a:p>
            <a:pPr>
              <a:defRPr sz="1300" b="1">
                <a:solidFill>
                  <a:srgbClr val="38BDF8"/>
                </a:solidFill>
              </a:defRPr>
            </a:pPr>
            <a:r>
              <a:t>Data Flow &amp; State Management</a:t>
            </a:r>
          </a:p>
          <a:p>
            <a:pPr>
              <a:spcBef>
                <a:spcPts val="500"/>
              </a:spcBef>
              <a:defRPr sz="1050">
                <a:solidFill>
                  <a:srgbClr val="94A3B8"/>
                </a:solidFill>
              </a:defRPr>
            </a:pPr>
            <a:r>
              <a:t>• StateGraph Typing: Maintains question, evidence_snippets, source_links, calculations, draft_answer, and verification_result across nodes.</a:t>
            </a:r>
          </a:p>
          <a:p>
            <a:pPr>
              <a:spcBef>
                <a:spcPts val="500"/>
              </a:spcBef>
              <a:defRPr sz="1050">
                <a:solidFill>
                  <a:srgbClr val="94A3B8"/>
                </a:solidFill>
              </a:defRPr>
            </a:pPr>
            <a:r>
              <a:t>• Zero-Redundancy Retrieval: Top-k=4 semantic chunk retrieval guarantees high-density context without context pollution.</a:t>
            </a:r>
          </a:p>
          <a:p>
            <a:pPr>
              <a:spcBef>
                <a:spcPts val="500"/>
              </a:spcBef>
              <a:defRPr sz="1050">
                <a:solidFill>
                  <a:srgbClr val="94A3B8"/>
                </a:solidFill>
              </a:defRPr>
            </a:pPr>
            <a:r>
              <a:t>• Sub-Minute Execution: Single-pass deterministic execution completes complex inquiries in under 7 seconds.</a:t>
            </a:r>
          </a:p>
        </p:txBody>
      </p:sp>
      <p:sp>
        <p:nvSpPr>
          <p:cNvPr id="27" name="Rounded Rectangle 26"/>
          <p:cNvSpPr/>
          <p:nvPr/>
        </p:nvSpPr>
        <p:spPr>
          <a:xfrm>
            <a:off x="6126480" y="2971800"/>
            <a:ext cx="5303520" cy="329184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7648" y="3136392"/>
            <a:ext cx="4901183" cy="2962656"/>
          </a:xfrm>
          <a:prstGeom prst="rect">
            <a:avLst/>
          </a:prstGeom>
          <a:noFill/>
        </p:spPr>
        <p:txBody>
          <a:bodyPr wrap="square">
            <a:spAutoFit/>
          </a:bodyPr>
          <a:lstStyle/>
          <a:p>
            <a:pPr>
              <a:defRPr sz="1300" b="1">
                <a:solidFill>
                  <a:srgbClr val="10B981"/>
                </a:solidFill>
              </a:defRPr>
            </a:pPr>
            <a:r>
              <a:t>Verification &amp; Trust Guardrails</a:t>
            </a:r>
          </a:p>
          <a:p>
            <a:pPr>
              <a:spcBef>
                <a:spcPts val="500"/>
              </a:spcBef>
              <a:defRPr sz="1050">
                <a:solidFill>
                  <a:srgbClr val="94A3B8"/>
                </a:solidFill>
              </a:defRPr>
            </a:pPr>
            <a:r>
              <a:t>• Deterministic AST Arithmetic: Evaluates lease outlays and payroll budgets via safe Python AST—zero LLM hallucination of arithmetic.</a:t>
            </a:r>
          </a:p>
          <a:p>
            <a:pPr>
              <a:spcBef>
                <a:spcPts val="500"/>
              </a:spcBef>
              <a:defRPr sz="1050">
                <a:solidFill>
                  <a:srgbClr val="94A3B8"/>
                </a:solidFill>
              </a:defRPr>
            </a:pPr>
            <a:r>
              <a:t>• Programmatic Grounding: Verifies that cited headcount and rents overlap &gt;55% with primary source dossiers before approval.</a:t>
            </a:r>
          </a:p>
          <a:p>
            <a:pPr>
              <a:spcBef>
                <a:spcPts val="500"/>
              </a:spcBef>
              <a:defRPr sz="1050">
                <a:solidFill>
                  <a:srgbClr val="94A3B8"/>
                </a:solidFill>
              </a:defRPr>
            </a:pPr>
            <a:r>
              <a:t>• Canonical Citations: Every claim is linked to source documents (CBRE Q2 2024, Michael Page 2024, State Policies).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SPECIAL FEATURE: OPEX MODELER</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Parametric Real Estate, Payroll &amp; Subsidy Simulation</a:t>
            </a:r>
          </a:p>
        </p:txBody>
      </p:sp>
      <p:sp>
        <p:nvSpPr>
          <p:cNvPr id="5" name="Rounded Rectangle 4"/>
          <p:cNvSpPr/>
          <p:nvPr/>
        </p:nvSpPr>
        <p:spPr>
          <a:xfrm>
            <a:off x="731520" y="1508760"/>
            <a:ext cx="502920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4626864" cy="4425696"/>
          </a:xfrm>
          <a:prstGeom prst="rect">
            <a:avLst/>
          </a:prstGeom>
          <a:noFill/>
        </p:spPr>
        <p:txBody>
          <a:bodyPr wrap="square">
            <a:spAutoFit/>
          </a:bodyPr>
          <a:lstStyle/>
          <a:p>
            <a:pPr>
              <a:defRPr sz="1300" b="1">
                <a:solidFill>
                  <a:srgbClr val="38BDF8"/>
                </a:solidFill>
              </a:defRPr>
            </a:pPr>
            <a:r>
              <a:t>Parametric OpEx Simulation Engine</a:t>
            </a:r>
          </a:p>
          <a:p>
            <a:pPr>
              <a:spcBef>
                <a:spcPts val="500"/>
              </a:spcBef>
              <a:defRPr sz="1050">
                <a:solidFill>
                  <a:srgbClr val="94A3B8"/>
                </a:solidFill>
              </a:defRPr>
            </a:pPr>
            <a:r>
              <a:t>• Interactive Dimension Inputs: User selects target city hub (Bengaluru, Hyderabad, Chennai, Pune, Gurugram), headcount scale (50-1,000 seats), and specialization.</a:t>
            </a:r>
          </a:p>
          <a:p>
            <a:pPr>
              <a:spcBef>
                <a:spcPts val="500"/>
              </a:spcBef>
              <a:defRPr sz="1050">
                <a:solidFill>
                  <a:srgbClr val="94A3B8"/>
                </a:solidFill>
              </a:defRPr>
            </a:pPr>
            <a:r>
              <a:t>• Mathematical Floor Requirement: Auto-calculates required Grade-A space = Headcount × 90 sq.ft (industry standard).</a:t>
            </a:r>
          </a:p>
          <a:p>
            <a:pPr>
              <a:spcBef>
                <a:spcPts val="500"/>
              </a:spcBef>
              <a:defRPr sz="1050">
                <a:solidFill>
                  <a:srgbClr val="94A3B8"/>
                </a:solidFill>
              </a:defRPr>
            </a:pPr>
            <a:r>
              <a:t>• Commercial Lease Outlay: Space × CBRE Q2 2024 Grade-A Rental Rates × 12 months.</a:t>
            </a:r>
          </a:p>
          <a:p>
            <a:pPr>
              <a:spcBef>
                <a:spcPts val="500"/>
              </a:spcBef>
              <a:defRPr sz="1050">
                <a:solidFill>
                  <a:srgbClr val="94A3B8"/>
                </a:solidFill>
              </a:defRPr>
            </a:pPr>
            <a:r>
              <a:t>• Base Tech Payroll Outlay: Headcount × Michael Page 2024 Median CTC CTC by function.</a:t>
            </a:r>
          </a:p>
          <a:p>
            <a:pPr>
              <a:spcBef>
                <a:spcPts val="500"/>
              </a:spcBef>
              <a:defRPr sz="1050">
                <a:solidFill>
                  <a:srgbClr val="94A3B8"/>
                </a:solidFill>
              </a:defRPr>
            </a:pPr>
            <a:r>
              <a:t>• Micro-Market Rent &amp; Vacancy: Recommends prime corridors with real-time rental spreads and vacancy rates (e.g. ORR at ₹95-130/sq.ft/mo, 6.8% vacancy).</a:t>
            </a:r>
          </a:p>
        </p:txBody>
      </p:sp>
      <p:sp>
        <p:nvSpPr>
          <p:cNvPr id="7" name="Rounded Rectangle 6"/>
          <p:cNvSpPr/>
          <p:nvPr/>
        </p:nvSpPr>
        <p:spPr>
          <a:xfrm>
            <a:off x="6035040" y="1508760"/>
            <a:ext cx="5394960" cy="4754880"/>
          </a:xfrm>
          <a:prstGeom prst="roundRect">
            <a:avLst/>
          </a:prstGeom>
          <a:solidFill>
            <a:srgbClr val="0E16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_modeler.png"/>
          <p:cNvPicPr>
            <a:picLocks noChangeAspect="1"/>
          </p:cNvPicPr>
          <p:nvPr/>
        </p:nvPicPr>
        <p:blipFill>
          <a:blip r:embed="rId2"/>
          <a:stretch>
            <a:fillRect/>
          </a:stretch>
        </p:blipFill>
        <p:spPr>
          <a:xfrm>
            <a:off x="6172200" y="1645919"/>
            <a:ext cx="5120640" cy="2697480"/>
          </a:xfrm>
          <a:prstGeom prst="rect">
            <a:avLst/>
          </a:prstGeom>
        </p:spPr>
      </p:pic>
      <p:sp>
        <p:nvSpPr>
          <p:cNvPr id="9" name="TextBox 8"/>
          <p:cNvSpPr txBox="1"/>
          <p:nvPr/>
        </p:nvSpPr>
        <p:spPr>
          <a:xfrm>
            <a:off x="6217920" y="4407407"/>
            <a:ext cx="5029200" cy="1783080"/>
          </a:xfrm>
          <a:prstGeom prst="rect">
            <a:avLst/>
          </a:prstGeom>
          <a:noFill/>
        </p:spPr>
        <p:txBody>
          <a:bodyPr wrap="square">
            <a:spAutoFit/>
          </a:bodyPr>
          <a:lstStyle/>
          <a:p>
            <a:pPr>
              <a:defRPr sz="1100" b="1">
                <a:solidFill>
                  <a:srgbClr val="10B981"/>
                </a:solidFill>
              </a:defRPr>
            </a:pPr>
            <a:r>
              <a:t>🟢 LIVE PLATFORM PROOF: OPEX SIMULATION AT 250 SEATS</a:t>
            </a:r>
          </a:p>
          <a:p>
            <a:pPr>
              <a:spcBef>
                <a:spcPts val="300"/>
              </a:spcBef>
              <a:defRPr sz="950">
                <a:solidFill>
                  <a:srgbClr val="94A3B8"/>
                </a:solidFill>
              </a:defRPr>
            </a:pPr>
            <a:r>
              <a:t>✓ Bengaluru simulation: 22,500 sq.ft required space.</a:t>
            </a:r>
          </a:p>
          <a:p>
            <a:pPr>
              <a:spcBef>
                <a:spcPts val="300"/>
              </a:spcBef>
              <a:defRPr sz="950">
                <a:solidFill>
                  <a:srgbClr val="94A3B8"/>
                </a:solidFill>
              </a:defRPr>
            </a:pPr>
            <a:r>
              <a:t>✓ ₹2.83 Cr annual lease ($0.03M USD) &amp; ₹43.75 Cr talent payroll ($0.52M USD).</a:t>
            </a:r>
          </a:p>
          <a:p>
            <a:pPr>
              <a:spcBef>
                <a:spcPts val="300"/>
              </a:spcBef>
              <a:defRPr sz="950">
                <a:solidFill>
                  <a:srgbClr val="94A3B8"/>
                </a:solidFill>
              </a:defRPr>
            </a:pPr>
            <a:r>
              <a:t>✓ Corridors benchmarked: ORR, Whitefield, Electronic City, North Bengaluru.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SPECIAL FEATURE: GCC REGISTRY</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32 Audited Enterprise Dossiers with One-Click CSV Export</a:t>
            </a:r>
          </a:p>
        </p:txBody>
      </p:sp>
      <p:sp>
        <p:nvSpPr>
          <p:cNvPr id="5" name="Rounded Rectangle 4"/>
          <p:cNvSpPr/>
          <p:nvPr/>
        </p:nvSpPr>
        <p:spPr>
          <a:xfrm>
            <a:off x="731520" y="1508760"/>
            <a:ext cx="502920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4626864" cy="4425696"/>
          </a:xfrm>
          <a:prstGeom prst="rect">
            <a:avLst/>
          </a:prstGeom>
          <a:noFill/>
        </p:spPr>
        <p:txBody>
          <a:bodyPr wrap="square">
            <a:spAutoFit/>
          </a:bodyPr>
          <a:lstStyle/>
          <a:p>
            <a:pPr>
              <a:defRPr sz="1300" b="1">
                <a:solidFill>
                  <a:srgbClr val="38BDF8"/>
                </a:solidFill>
              </a:defRPr>
            </a:pPr>
            <a:r>
              <a:t>32 Curated Enterprise Case Profiles</a:t>
            </a:r>
          </a:p>
          <a:p>
            <a:pPr>
              <a:spcBef>
                <a:spcPts val="500"/>
              </a:spcBef>
              <a:defRPr sz="1050">
                <a:solidFill>
                  <a:srgbClr val="94A3B8"/>
                </a:solidFill>
              </a:defRPr>
            </a:pPr>
            <a:r>
              <a:t>• Cross-Sector Marquee GCCs: In-depth dossiers covering Goldman Sachs, Boeing, JPMorgan, Walmart Global Tech, AstraZeneca, Mercedes-Benz, Ford, etc.</a:t>
            </a:r>
          </a:p>
          <a:p>
            <a:pPr>
              <a:spcBef>
                <a:spcPts val="500"/>
              </a:spcBef>
              <a:defRPr sz="1050">
                <a:solidFill>
                  <a:srgbClr val="94A3B8"/>
                </a:solidFill>
              </a:defRPr>
            </a:pPr>
            <a:r>
              <a:t>• Granular Attributes Tracked: Global HQ, Indian metro hub, micro-market address, verified actual headcount, key capabilities, and expansion activity.</a:t>
            </a:r>
          </a:p>
          <a:p>
            <a:pPr>
              <a:spcBef>
                <a:spcPts val="500"/>
              </a:spcBef>
              <a:defRPr sz="1050">
                <a:solidFill>
                  <a:srgbClr val="94A3B8"/>
                </a:solidFill>
              </a:defRPr>
            </a:pPr>
            <a:r>
              <a:t>• Verification Badges: Transparently tagged as 'Verified Fact' (statutory filings), 'Company Announcement' (press releases), or 'Industry Estimate' (market benchmarks).</a:t>
            </a:r>
          </a:p>
          <a:p>
            <a:pPr>
              <a:spcBef>
                <a:spcPts val="500"/>
              </a:spcBef>
              <a:defRPr sz="1050">
                <a:solidFill>
                  <a:srgbClr val="94A3B8"/>
                </a:solidFill>
              </a:defRPr>
            </a:pPr>
            <a:r>
              <a:t>• 1-Click CSV Directory Export: Download the full 32-record audited database for offline financial modeling and presentation decks.</a:t>
            </a:r>
          </a:p>
        </p:txBody>
      </p:sp>
      <p:sp>
        <p:nvSpPr>
          <p:cNvPr id="7" name="Rounded Rectangle 6"/>
          <p:cNvSpPr/>
          <p:nvPr/>
        </p:nvSpPr>
        <p:spPr>
          <a:xfrm>
            <a:off x="6035040" y="1508760"/>
            <a:ext cx="5394960" cy="4754880"/>
          </a:xfrm>
          <a:prstGeom prst="roundRect">
            <a:avLst/>
          </a:prstGeom>
          <a:solidFill>
            <a:srgbClr val="0E16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_explorer.png"/>
          <p:cNvPicPr>
            <a:picLocks noChangeAspect="1"/>
          </p:cNvPicPr>
          <p:nvPr/>
        </p:nvPicPr>
        <p:blipFill>
          <a:blip r:embed="rId2"/>
          <a:stretch>
            <a:fillRect/>
          </a:stretch>
        </p:blipFill>
        <p:spPr>
          <a:xfrm>
            <a:off x="6172200" y="1645919"/>
            <a:ext cx="5120640" cy="2697480"/>
          </a:xfrm>
          <a:prstGeom prst="rect">
            <a:avLst/>
          </a:prstGeom>
        </p:spPr>
      </p:pic>
      <p:sp>
        <p:nvSpPr>
          <p:cNvPr id="9" name="TextBox 8"/>
          <p:cNvSpPr txBox="1"/>
          <p:nvPr/>
        </p:nvSpPr>
        <p:spPr>
          <a:xfrm>
            <a:off x="6217920" y="4407407"/>
            <a:ext cx="5029200" cy="1783080"/>
          </a:xfrm>
          <a:prstGeom prst="rect">
            <a:avLst/>
          </a:prstGeom>
          <a:noFill/>
        </p:spPr>
        <p:txBody>
          <a:bodyPr wrap="square">
            <a:spAutoFit/>
          </a:bodyPr>
          <a:lstStyle/>
          <a:p>
            <a:pPr>
              <a:defRPr sz="1100" b="1">
                <a:solidFill>
                  <a:srgbClr val="10B981"/>
                </a:solidFill>
              </a:defRPr>
            </a:pPr>
            <a:r>
              <a:t>🟢 LIVE PLATFORM PROOF: GOLDMAN SACHS CASE PROFILE</a:t>
            </a:r>
          </a:p>
          <a:p>
            <a:pPr>
              <a:spcBef>
                <a:spcPts val="300"/>
              </a:spcBef>
              <a:defRPr sz="950">
                <a:solidFill>
                  <a:srgbClr val="94A3B8"/>
                </a:solidFill>
              </a:defRPr>
            </a:pPr>
            <a:r>
              <a:t>✓ Goldman Sachs Services: Est. 2004, 9,000 verified roles in Bengaluru.</a:t>
            </a:r>
          </a:p>
          <a:p>
            <a:pPr>
              <a:spcBef>
                <a:spcPts val="300"/>
              </a:spcBef>
              <a:defRPr sz="950">
                <a:solidFill>
                  <a:srgbClr val="94A3B8"/>
                </a:solidFill>
              </a:defRPr>
            </a:pPr>
            <a:r>
              <a:t>✓ Campus: 1.2M sq.ft at Embassy GolfLinks; scaling Hyderabad hub to 2,500+.</a:t>
            </a:r>
          </a:p>
          <a:p>
            <a:pPr>
              <a:spcBef>
                <a:spcPts val="300"/>
              </a:spcBef>
              <a:defRPr sz="950">
                <a:solidFill>
                  <a:srgbClr val="94A3B8"/>
                </a:solidFill>
              </a:defRPr>
            </a:pPr>
            <a:r>
              <a:t>✓ Multi-attribute filter by company keyword, metro hub, industry, and tier.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SPECIAL FEATURE: CITY MATRIX</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Side-by-Side Benchmarking Across 5 Tier-1 Metros</a:t>
            </a:r>
          </a:p>
        </p:txBody>
      </p:sp>
      <p:sp>
        <p:nvSpPr>
          <p:cNvPr id="5" name="Rounded Rectangle 4"/>
          <p:cNvSpPr/>
          <p:nvPr/>
        </p:nvSpPr>
        <p:spPr>
          <a:xfrm>
            <a:off x="731520" y="1508760"/>
            <a:ext cx="329184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2889504" cy="4425696"/>
          </a:xfrm>
          <a:prstGeom prst="rect">
            <a:avLst/>
          </a:prstGeom>
          <a:noFill/>
        </p:spPr>
        <p:txBody>
          <a:bodyPr wrap="square">
            <a:spAutoFit/>
          </a:bodyPr>
          <a:lstStyle/>
          <a:p>
            <a:pPr>
              <a:defRPr sz="1300" b="1">
                <a:solidFill>
                  <a:srgbClr val="38BDF8"/>
                </a:solidFill>
              </a:defRPr>
            </a:pPr>
            <a:r>
              <a:t>5 Monitored Hubs</a:t>
            </a:r>
          </a:p>
          <a:p>
            <a:pPr>
              <a:spcBef>
                <a:spcPts val="500"/>
              </a:spcBef>
              <a:defRPr sz="1050">
                <a:solidFill>
                  <a:srgbClr val="94A3B8"/>
                </a:solidFill>
              </a:defRPr>
            </a:pPr>
            <a:r>
              <a:t>• Bengaluru: India's GCC capital with 39.5% market share and deepest AI/ML talent pool.</a:t>
            </a:r>
          </a:p>
          <a:p>
            <a:pPr>
              <a:spcBef>
                <a:spcPts val="500"/>
              </a:spcBef>
              <a:defRPr sz="1050">
                <a:solidFill>
                  <a:srgbClr val="94A3B8"/>
                </a:solidFill>
              </a:defRPr>
            </a:pPr>
            <a:r>
              <a:t>• Hyderabad: Lowest Grade-A vacancy and premier TS-iPASS single-window statutory clearances.</a:t>
            </a:r>
          </a:p>
          <a:p>
            <a:pPr>
              <a:spcBef>
                <a:spcPts val="500"/>
              </a:spcBef>
              <a:defRPr sz="1050">
                <a:solidFill>
                  <a:srgbClr val="94A3B8"/>
                </a:solidFill>
              </a:defRPr>
            </a:pPr>
            <a:r>
              <a:t>• Chennai: SaaS and manufacturing R&amp;D hub with lowest Grade-A office leasing rates.</a:t>
            </a:r>
          </a:p>
          <a:p>
            <a:pPr>
              <a:spcBef>
                <a:spcPts val="500"/>
              </a:spcBef>
              <a:defRPr sz="1050">
                <a:solidFill>
                  <a:srgbClr val="94A3B8"/>
                </a:solidFill>
              </a:defRPr>
            </a:pPr>
            <a:r>
              <a:t>• Pune: Automotive R&amp;D and engineering center near financial capital Mumbai.</a:t>
            </a:r>
          </a:p>
          <a:p>
            <a:pPr>
              <a:spcBef>
                <a:spcPts val="500"/>
              </a:spcBef>
              <a:defRPr sz="1050">
                <a:solidFill>
                  <a:srgbClr val="94A3B8"/>
                </a:solidFill>
              </a:defRPr>
            </a:pPr>
            <a:r>
              <a:t>• Gurugram: North India's premier corporate and fintech hub with highest airport connectivity.</a:t>
            </a:r>
          </a:p>
        </p:txBody>
      </p:sp>
      <p:sp>
        <p:nvSpPr>
          <p:cNvPr id="7" name="Rounded Rectangle 6"/>
          <p:cNvSpPr/>
          <p:nvPr/>
        </p:nvSpPr>
        <p:spPr>
          <a:xfrm>
            <a:off x="4389120" y="1508760"/>
            <a:ext cx="329184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0288" y="1673351"/>
            <a:ext cx="2889504" cy="4425696"/>
          </a:xfrm>
          <a:prstGeom prst="rect">
            <a:avLst/>
          </a:prstGeom>
          <a:noFill/>
        </p:spPr>
        <p:txBody>
          <a:bodyPr wrap="square">
            <a:spAutoFit/>
          </a:bodyPr>
          <a:lstStyle/>
          <a:p>
            <a:pPr>
              <a:defRPr sz="1300" b="1">
                <a:solidFill>
                  <a:srgbClr val="10B981"/>
                </a:solidFill>
              </a:defRPr>
            </a:pPr>
            <a:r>
              <a:t>Comparative Dimensions</a:t>
            </a:r>
          </a:p>
          <a:p>
            <a:pPr>
              <a:spcBef>
                <a:spcPts val="500"/>
              </a:spcBef>
              <a:defRPr sz="1050">
                <a:solidFill>
                  <a:srgbClr val="94A3B8"/>
                </a:solidFill>
              </a:defRPr>
            </a:pPr>
            <a:r>
              <a:t>• Ecosystem Scale: Market share %, active GCC center counts, and total workforce pool.</a:t>
            </a:r>
          </a:p>
          <a:p>
            <a:pPr>
              <a:spcBef>
                <a:spcPts val="500"/>
              </a:spcBef>
              <a:defRPr sz="1050">
                <a:solidFill>
                  <a:srgbClr val="94A3B8"/>
                </a:solidFill>
              </a:defRPr>
            </a:pPr>
            <a:r>
              <a:t>• Grade-A Real Estate: CBRE Q2 2024 monthly rental spreads and micro-market vacancy rates.</a:t>
            </a:r>
          </a:p>
          <a:p>
            <a:pPr>
              <a:spcBef>
                <a:spcPts val="500"/>
              </a:spcBef>
              <a:defRPr sz="1050">
                <a:solidFill>
                  <a:srgbClr val="94A3B8"/>
                </a:solidFill>
              </a:defRPr>
            </a:pPr>
            <a:r>
              <a:t>• Compensation Benchmarks: Junior, Mid, Senior, and Principal salary bands from Michael Page 2024.</a:t>
            </a:r>
          </a:p>
          <a:p>
            <a:pPr>
              <a:spcBef>
                <a:spcPts val="500"/>
              </a:spcBef>
              <a:defRPr sz="1050">
                <a:solidFill>
                  <a:srgbClr val="94A3B8"/>
                </a:solidFill>
              </a:defRPr>
            </a:pPr>
            <a:r>
              <a:t>• State Policies: Specific policy names, departments, and statutory subsidy schedules.</a:t>
            </a:r>
          </a:p>
        </p:txBody>
      </p:sp>
      <p:sp>
        <p:nvSpPr>
          <p:cNvPr id="9" name="Rounded Rectangle 8"/>
          <p:cNvSpPr/>
          <p:nvPr/>
        </p:nvSpPr>
        <p:spPr>
          <a:xfrm>
            <a:off x="8046720" y="1508760"/>
            <a:ext cx="33832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7888" y="1673351"/>
            <a:ext cx="2980944" cy="4425696"/>
          </a:xfrm>
          <a:prstGeom prst="rect">
            <a:avLst/>
          </a:prstGeom>
          <a:noFill/>
        </p:spPr>
        <p:txBody>
          <a:bodyPr wrap="square">
            <a:spAutoFit/>
          </a:bodyPr>
          <a:lstStyle/>
          <a:p>
            <a:pPr>
              <a:defRPr sz="1300" b="1">
                <a:solidFill>
                  <a:srgbClr val="F59E0B"/>
                </a:solidFill>
              </a:defRPr>
            </a:pPr>
            <a:r>
              <a:t>Strategic Trade-offs &amp; AI</a:t>
            </a:r>
          </a:p>
          <a:p>
            <a:pPr>
              <a:spcBef>
                <a:spcPts val="500"/>
              </a:spcBef>
              <a:defRPr sz="1050">
                <a:solidFill>
                  <a:srgbClr val="94A3B8"/>
                </a:solidFill>
              </a:defRPr>
            </a:pPr>
            <a:r>
              <a:t>• Explicit Pros &amp; Cons: Unbiased assessment of infrastructure bottlenecks and talent retention risks.</a:t>
            </a:r>
          </a:p>
          <a:p>
            <a:pPr>
              <a:spcBef>
                <a:spcPts val="500"/>
              </a:spcBef>
              <a:defRPr sz="1050">
                <a:solidFill>
                  <a:srgbClr val="94A3B8"/>
                </a:solidFill>
              </a:defRPr>
            </a:pPr>
            <a:r>
              <a:t>• Recommended Entrant Profile: Tailored fit (e.g. Best for Large Tech Captives vs. Regional Cost-Optimized Centers).</a:t>
            </a:r>
          </a:p>
          <a:p>
            <a:pPr>
              <a:spcBef>
                <a:spcPts val="500"/>
              </a:spcBef>
              <a:defRPr sz="1050">
                <a:solidFill>
                  <a:srgbClr val="94A3B8"/>
                </a:solidFill>
              </a:defRPr>
            </a:pPr>
            <a:r>
              <a:t>• AI Comparative Synthesis: One-click comparative brief generation powered by Gemini Flash.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SPECIAL FEATURE: AI AGENT</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Multi-Step Verification with Zero-Hallucination Guardrails</a:t>
            </a:r>
          </a:p>
        </p:txBody>
      </p:sp>
      <p:sp>
        <p:nvSpPr>
          <p:cNvPr id="5" name="Rounded Rectangle 4"/>
          <p:cNvSpPr/>
          <p:nvPr/>
        </p:nvSpPr>
        <p:spPr>
          <a:xfrm>
            <a:off x="731520" y="1508760"/>
            <a:ext cx="502920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4626864" cy="4425696"/>
          </a:xfrm>
          <a:prstGeom prst="rect">
            <a:avLst/>
          </a:prstGeom>
          <a:noFill/>
        </p:spPr>
        <p:txBody>
          <a:bodyPr wrap="square">
            <a:spAutoFit/>
          </a:bodyPr>
          <a:lstStyle/>
          <a:p>
            <a:pPr>
              <a:defRPr sz="1300" b="1">
                <a:solidFill>
                  <a:srgbClr val="38BDF8"/>
                </a:solidFill>
              </a:defRPr>
            </a:pPr>
            <a:r>
              <a:t>Agentic Grounding &amp; Zero-Hallucination</a:t>
            </a:r>
          </a:p>
          <a:p>
            <a:pPr>
              <a:spcBef>
                <a:spcPts val="500"/>
              </a:spcBef>
              <a:defRPr sz="1050">
                <a:solidFill>
                  <a:srgbClr val="94A3B8"/>
                </a:solidFill>
              </a:defRPr>
            </a:pPr>
            <a:r>
              <a:t>• LangGraph Directed Flow: Coordinates vector retrieval, AST math evaluation, structured draft generation, and evidence auditing.</a:t>
            </a:r>
          </a:p>
          <a:p>
            <a:pPr>
              <a:spcBef>
                <a:spcPts val="500"/>
              </a:spcBef>
              <a:defRPr sz="1050">
                <a:solidFill>
                  <a:srgbClr val="94A3B8"/>
                </a:solidFill>
              </a:defRPr>
            </a:pPr>
            <a:r>
              <a:t>• FAISS Vector Grounding: gemini-embedding-2 indexes 15 canonical source dossiers and official state gazettes.</a:t>
            </a:r>
          </a:p>
          <a:p>
            <a:pPr>
              <a:spcBef>
                <a:spcPts val="500"/>
              </a:spcBef>
              <a:defRPr sz="1050">
                <a:solidFill>
                  <a:srgbClr val="94A3B8"/>
                </a:solidFill>
              </a:defRPr>
            </a:pPr>
            <a:r>
              <a:t>• Programmatic Audit Node: Verifies facts and numbers against source text in 0.002s, ensuring 100% citation reliability.</a:t>
            </a:r>
          </a:p>
          <a:p>
            <a:pPr>
              <a:spcBef>
                <a:spcPts val="500"/>
              </a:spcBef>
              <a:defRPr sz="1050">
                <a:solidFill>
                  <a:srgbClr val="94A3B8"/>
                </a:solidFill>
              </a:defRPr>
            </a:pPr>
            <a:r>
              <a:t>• Strict Abstention Policy: Refuses to speculate or invent non-existent centers when verified data is missing.</a:t>
            </a:r>
          </a:p>
          <a:p>
            <a:pPr>
              <a:spcBef>
                <a:spcPts val="500"/>
              </a:spcBef>
              <a:defRPr sz="1050">
                <a:solidFill>
                  <a:srgbClr val="94A3B8"/>
                </a:solidFill>
              </a:defRPr>
            </a:pPr>
            <a:r>
              <a:t>• Dual-Mode Resilience: Operates online with Gemini Flash or offline directly from audited local dossiers.</a:t>
            </a:r>
          </a:p>
        </p:txBody>
      </p:sp>
      <p:sp>
        <p:nvSpPr>
          <p:cNvPr id="7" name="Rounded Rectangle 6"/>
          <p:cNvSpPr/>
          <p:nvPr/>
        </p:nvSpPr>
        <p:spPr>
          <a:xfrm>
            <a:off x="6035040" y="1508760"/>
            <a:ext cx="5394960" cy="4754880"/>
          </a:xfrm>
          <a:prstGeom prst="roundRect">
            <a:avLst/>
          </a:prstGeom>
          <a:solidFill>
            <a:srgbClr val="0E16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_agent.png"/>
          <p:cNvPicPr>
            <a:picLocks noChangeAspect="1"/>
          </p:cNvPicPr>
          <p:nvPr/>
        </p:nvPicPr>
        <p:blipFill>
          <a:blip r:embed="rId2"/>
          <a:stretch>
            <a:fillRect/>
          </a:stretch>
        </p:blipFill>
        <p:spPr>
          <a:xfrm>
            <a:off x="6172200" y="1645919"/>
            <a:ext cx="5120640" cy="2697480"/>
          </a:xfrm>
          <a:prstGeom prst="rect">
            <a:avLst/>
          </a:prstGeom>
        </p:spPr>
      </p:pic>
      <p:sp>
        <p:nvSpPr>
          <p:cNvPr id="9" name="TextBox 8"/>
          <p:cNvSpPr txBox="1"/>
          <p:nvPr/>
        </p:nvSpPr>
        <p:spPr>
          <a:xfrm>
            <a:off x="6217920" y="4407407"/>
            <a:ext cx="5029200" cy="1783080"/>
          </a:xfrm>
          <a:prstGeom prst="rect">
            <a:avLst/>
          </a:prstGeom>
          <a:noFill/>
        </p:spPr>
        <p:txBody>
          <a:bodyPr wrap="square">
            <a:spAutoFit/>
          </a:bodyPr>
          <a:lstStyle/>
          <a:p>
            <a:pPr>
              <a:defRPr sz="1100" b="1">
                <a:solidFill>
                  <a:srgbClr val="10B981"/>
                </a:solidFill>
              </a:defRPr>
            </a:pPr>
            <a:r>
              <a:t>🟢 LIVE PLATFORM PROOF: CHENNAI MULTIDISCIPLINARY DOSSIER</a:t>
            </a:r>
          </a:p>
          <a:p>
            <a:pPr>
              <a:spcBef>
                <a:spcPts val="300"/>
              </a:spcBef>
              <a:defRPr sz="950">
                <a:solidFill>
                  <a:srgbClr val="94A3B8"/>
                </a:solidFill>
              </a:defRPr>
            </a:pPr>
            <a:r>
              <a:t>✓ Live execution on: 'Find GCCs in Chennai with finance, engineering, or analytics'.</a:t>
            </a:r>
          </a:p>
          <a:p>
            <a:pPr>
              <a:spcBef>
                <a:spcPts val="300"/>
              </a:spcBef>
              <a:defRPr sz="950">
                <a:solidFill>
                  <a:srgbClr val="94A3B8"/>
                </a:solidFill>
              </a:defRPr>
            </a:pPr>
            <a:r>
              <a:t>✓ Green badge: '✓ Fully Verified: Claims audited and grounded against primary GCC Intel dossiers'.</a:t>
            </a:r>
          </a:p>
          <a:p>
            <a:pPr>
              <a:spcBef>
                <a:spcPts val="300"/>
              </a:spcBef>
              <a:defRPr sz="950">
                <a:solidFill>
                  <a:srgbClr val="94A3B8"/>
                </a:solidFill>
              </a:defRPr>
            </a:pPr>
            <a:r>
              <a:t>✓ Executive Memorandum with NASSCOM GCC 4.0 and CBRE citations delivered in 6.94s.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SPECIAL FEATURE: PARTNERS &amp; DATA</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Vetted Service Providers &amp; Audited Sources Registry</a:t>
            </a:r>
          </a:p>
        </p:txBody>
      </p:sp>
      <p:sp>
        <p:nvSpPr>
          <p:cNvPr id="5" name="Rounded Rectangle 4"/>
          <p:cNvSpPr/>
          <p:nvPr/>
        </p:nvSpPr>
        <p:spPr>
          <a:xfrm>
            <a:off x="731520" y="1508760"/>
            <a:ext cx="502920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4626864" cy="4425696"/>
          </a:xfrm>
          <a:prstGeom prst="rect">
            <a:avLst/>
          </a:prstGeom>
          <a:noFill/>
        </p:spPr>
        <p:txBody>
          <a:bodyPr wrap="square">
            <a:spAutoFit/>
          </a:bodyPr>
          <a:lstStyle/>
          <a:p>
            <a:pPr>
              <a:defRPr sz="1300" b="1">
                <a:solidFill>
                  <a:srgbClr val="38BDF8"/>
                </a:solidFill>
              </a:defRPr>
            </a:pPr>
            <a:r>
              <a:t>Enablement Ecosystem &amp; Source Registry</a:t>
            </a:r>
          </a:p>
          <a:p>
            <a:pPr>
              <a:spcBef>
                <a:spcPts val="500"/>
              </a:spcBef>
              <a:defRPr sz="1050">
                <a:solidFill>
                  <a:srgbClr val="94A3B8"/>
                </a:solidFill>
              </a:defRPr>
            </a:pPr>
            <a:r>
              <a:t>• Vetted Service Partners: Profiles leading GCC enablement firms (ANSR, Zinnov, EY, PwC, CBRE, JLL, Deel, Trilegal).</a:t>
            </a:r>
          </a:p>
          <a:p>
            <a:pPr>
              <a:spcBef>
                <a:spcPts val="500"/>
              </a:spcBef>
              <a:defRPr sz="1050">
                <a:solidFill>
                  <a:srgbClr val="94A3B8"/>
                </a:solidFill>
              </a:defRPr>
            </a:pPr>
            <a:r>
              <a:t>• Turnkey Setup Track Records: Details documented center setups (e.g., ANSR's 110+ GCCs and 100,000+ managed professionals).</a:t>
            </a:r>
          </a:p>
          <a:p>
            <a:pPr>
              <a:spcBef>
                <a:spcPts val="500"/>
              </a:spcBef>
              <a:defRPr sz="1050">
                <a:solidFill>
                  <a:srgbClr val="94A3B8"/>
                </a:solidFill>
              </a:defRPr>
            </a:pPr>
            <a:r>
              <a:t>• 15 Audited Sources Tracked: Real-time registry of NASSCOM reports, CBRE office figures, Michael Page salary guides, and state government policies.</a:t>
            </a:r>
          </a:p>
          <a:p>
            <a:pPr>
              <a:spcBef>
                <a:spcPts val="500"/>
              </a:spcBef>
              <a:defRPr sz="1050">
                <a:solidFill>
                  <a:srgbClr val="94A3B8"/>
                </a:solidFill>
              </a:defRPr>
            </a:pPr>
            <a:r>
              <a:t>• Conflict Resolution Documentation: Transparently explains why commercial rents and salary brackets vary across sources.</a:t>
            </a:r>
          </a:p>
        </p:txBody>
      </p:sp>
      <p:sp>
        <p:nvSpPr>
          <p:cNvPr id="7" name="Rounded Rectangle 6"/>
          <p:cNvSpPr/>
          <p:nvPr/>
        </p:nvSpPr>
        <p:spPr>
          <a:xfrm>
            <a:off x="6035040" y="1508760"/>
            <a:ext cx="5394960" cy="4754880"/>
          </a:xfrm>
          <a:prstGeom prst="roundRect">
            <a:avLst/>
          </a:prstGeom>
          <a:solidFill>
            <a:srgbClr val="0E162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_providers.png"/>
          <p:cNvPicPr>
            <a:picLocks noChangeAspect="1"/>
          </p:cNvPicPr>
          <p:nvPr/>
        </p:nvPicPr>
        <p:blipFill>
          <a:blip r:embed="rId2"/>
          <a:stretch>
            <a:fillRect/>
          </a:stretch>
        </p:blipFill>
        <p:spPr>
          <a:xfrm>
            <a:off x="6172200" y="1645919"/>
            <a:ext cx="5120640" cy="2697480"/>
          </a:xfrm>
          <a:prstGeom prst="rect">
            <a:avLst/>
          </a:prstGeom>
        </p:spPr>
      </p:pic>
      <p:sp>
        <p:nvSpPr>
          <p:cNvPr id="9" name="TextBox 8"/>
          <p:cNvSpPr txBox="1"/>
          <p:nvPr/>
        </p:nvSpPr>
        <p:spPr>
          <a:xfrm>
            <a:off x="6217920" y="4407407"/>
            <a:ext cx="5029200" cy="1783080"/>
          </a:xfrm>
          <a:prstGeom prst="rect">
            <a:avLst/>
          </a:prstGeom>
          <a:noFill/>
        </p:spPr>
        <p:txBody>
          <a:bodyPr wrap="square">
            <a:spAutoFit/>
          </a:bodyPr>
          <a:lstStyle/>
          <a:p>
            <a:pPr>
              <a:defRPr sz="1100" b="1">
                <a:solidFill>
                  <a:srgbClr val="10B981"/>
                </a:solidFill>
              </a:defRPr>
            </a:pPr>
            <a:r>
              <a:t>🟢 LIVE PLATFORM PROOF: ANSR VETTED PARTNER PROFILE</a:t>
            </a:r>
          </a:p>
          <a:p>
            <a:pPr>
              <a:spcBef>
                <a:spcPts val="300"/>
              </a:spcBef>
              <a:defRPr sz="950">
                <a:solidFill>
                  <a:srgbClr val="94A3B8"/>
                </a:solidFill>
              </a:defRPr>
            </a:pPr>
            <a:r>
              <a:t>✓ ANSR partner profile: 110+ GCCs established for Fortune 500 enterprises.</a:t>
            </a:r>
          </a:p>
          <a:p>
            <a:pPr>
              <a:spcBef>
                <a:spcPts val="300"/>
              </a:spcBef>
              <a:defRPr sz="950">
                <a:solidFill>
                  <a:srgbClr val="94A3B8"/>
                </a:solidFill>
              </a:defRPr>
            </a:pPr>
            <a:r>
              <a:t>✓ Documented capabilities: EOR, Turnkey Workspace, Legal Incorporation.</a:t>
            </a:r>
          </a:p>
          <a:p>
            <a:pPr>
              <a:spcBef>
                <a:spcPts val="300"/>
              </a:spcBef>
              <a:defRPr sz="950">
                <a:solidFill>
                  <a:srgbClr val="94A3B8"/>
                </a:solidFill>
              </a:defRPr>
            </a:pPr>
            <a:r>
              <a:t>✓ Category filters for Strategy, Real Estate, Legal, and Talent Search.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MARKET POSITIONING</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The Only Verifiable, Real-Time GCC Intelligence Platform</a:t>
            </a:r>
          </a:p>
        </p:txBody>
      </p:sp>
      <p:sp>
        <p:nvSpPr>
          <p:cNvPr id="5" name="Rounded Rectangle 4"/>
          <p:cNvSpPr/>
          <p:nvPr/>
        </p:nvSpPr>
        <p:spPr>
          <a:xfrm>
            <a:off x="7315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2066544" cy="4425696"/>
          </a:xfrm>
          <a:prstGeom prst="rect">
            <a:avLst/>
          </a:prstGeom>
          <a:noFill/>
        </p:spPr>
        <p:txBody>
          <a:bodyPr wrap="square">
            <a:spAutoFit/>
          </a:bodyPr>
          <a:lstStyle/>
          <a:p>
            <a:pPr>
              <a:defRPr sz="1300" b="1">
                <a:solidFill>
                  <a:srgbClr val="38BDF8"/>
                </a:solidFill>
              </a:defRPr>
            </a:pPr>
            <a:r>
              <a:t>Big 4 Consultancies</a:t>
            </a:r>
          </a:p>
          <a:p>
            <a:pPr>
              <a:spcBef>
                <a:spcPts val="500"/>
              </a:spcBef>
              <a:defRPr sz="1050">
                <a:solidFill>
                  <a:srgbClr val="94A3B8"/>
                </a:solidFill>
              </a:defRPr>
            </a:pPr>
            <a:r>
              <a:t>• Examples: EY, PwC, Deloitte.</a:t>
            </a:r>
          </a:p>
          <a:p>
            <a:pPr>
              <a:spcBef>
                <a:spcPts val="500"/>
              </a:spcBef>
              <a:defRPr sz="1050">
                <a:solidFill>
                  <a:srgbClr val="94A3B8"/>
                </a:solidFill>
              </a:defRPr>
            </a:pPr>
            <a:r>
              <a:t>• Model: High-touch human advisory.</a:t>
            </a:r>
          </a:p>
          <a:p>
            <a:pPr>
              <a:spcBef>
                <a:spcPts val="500"/>
              </a:spcBef>
              <a:defRPr sz="1050">
                <a:solidFill>
                  <a:srgbClr val="94A3B8"/>
                </a:solidFill>
              </a:defRPr>
            </a:pPr>
            <a:r>
              <a:t>• Engagement: 3-6 month timeline.</a:t>
            </a:r>
          </a:p>
          <a:p>
            <a:pPr>
              <a:spcBef>
                <a:spcPts val="500"/>
              </a:spcBef>
              <a:defRPr sz="1050">
                <a:solidFill>
                  <a:srgbClr val="94A3B8"/>
                </a:solidFill>
              </a:defRPr>
            </a:pPr>
            <a:r>
              <a:t>• Pricing: $150k - $300k retainer.</a:t>
            </a:r>
          </a:p>
          <a:p>
            <a:pPr>
              <a:spcBef>
                <a:spcPts val="500"/>
              </a:spcBef>
              <a:defRPr sz="1050">
                <a:solidFill>
                  <a:srgbClr val="94A3B8"/>
                </a:solidFill>
              </a:defRPr>
            </a:pPr>
            <a:r>
              <a:t>• Weakness: Expensive, slow, bespoke deliverables that quickly become obsolete.</a:t>
            </a:r>
          </a:p>
        </p:txBody>
      </p:sp>
      <p:sp>
        <p:nvSpPr>
          <p:cNvPr id="7" name="Rounded Rectangle 6"/>
          <p:cNvSpPr/>
          <p:nvPr/>
        </p:nvSpPr>
        <p:spPr>
          <a:xfrm>
            <a:off x="34747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75887" y="1673351"/>
            <a:ext cx="2066544" cy="4425696"/>
          </a:xfrm>
          <a:prstGeom prst="rect">
            <a:avLst/>
          </a:prstGeom>
          <a:noFill/>
        </p:spPr>
        <p:txBody>
          <a:bodyPr wrap="square">
            <a:spAutoFit/>
          </a:bodyPr>
          <a:lstStyle/>
          <a:p>
            <a:pPr>
              <a:defRPr sz="1300" b="1">
                <a:solidFill>
                  <a:srgbClr val="38BDF8"/>
                </a:solidFill>
              </a:defRPr>
            </a:pPr>
            <a:r>
              <a:t>Real Estate Brokers</a:t>
            </a:r>
          </a:p>
          <a:p>
            <a:pPr>
              <a:spcBef>
                <a:spcPts val="500"/>
              </a:spcBef>
              <a:defRPr sz="1050">
                <a:solidFill>
                  <a:srgbClr val="94A3B8"/>
                </a:solidFill>
              </a:defRPr>
            </a:pPr>
            <a:r>
              <a:t>• Examples: CBRE, JLL, Colliers.</a:t>
            </a:r>
          </a:p>
          <a:p>
            <a:pPr>
              <a:spcBef>
                <a:spcPts val="500"/>
              </a:spcBef>
              <a:defRPr sz="1050">
                <a:solidFill>
                  <a:srgbClr val="94A3B8"/>
                </a:solidFill>
              </a:defRPr>
            </a:pPr>
            <a:r>
              <a:t>• Model: Brokerage &amp; transaction commissions.</a:t>
            </a:r>
          </a:p>
          <a:p>
            <a:pPr>
              <a:spcBef>
                <a:spcPts val="500"/>
              </a:spcBef>
              <a:defRPr sz="1050">
                <a:solidFill>
                  <a:srgbClr val="94A3B8"/>
                </a:solidFill>
              </a:defRPr>
            </a:pPr>
            <a:r>
              <a:t>• Focus: Commercial lease execution.</a:t>
            </a:r>
          </a:p>
          <a:p>
            <a:pPr>
              <a:spcBef>
                <a:spcPts val="500"/>
              </a:spcBef>
              <a:defRPr sz="1050">
                <a:solidFill>
                  <a:srgbClr val="94A3B8"/>
                </a:solidFill>
              </a:defRPr>
            </a:pPr>
            <a:r>
              <a:t>• Pricing: Embedded in lease commission.</a:t>
            </a:r>
          </a:p>
          <a:p>
            <a:pPr>
              <a:spcBef>
                <a:spcPts val="500"/>
              </a:spcBef>
              <a:defRPr sz="1050">
                <a:solidFill>
                  <a:srgbClr val="94A3B8"/>
                </a:solidFill>
              </a:defRPr>
            </a:pPr>
            <a:r>
              <a:t>• Weakness: Strong transactional bias; lacks objective talent &amp; state policy depth.</a:t>
            </a:r>
          </a:p>
        </p:txBody>
      </p:sp>
      <p:sp>
        <p:nvSpPr>
          <p:cNvPr id="9" name="Rounded Rectangle 8"/>
          <p:cNvSpPr/>
          <p:nvPr/>
        </p:nvSpPr>
        <p:spPr>
          <a:xfrm>
            <a:off x="6217920" y="1508760"/>
            <a:ext cx="24688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673351"/>
            <a:ext cx="2066544" cy="4425696"/>
          </a:xfrm>
          <a:prstGeom prst="rect">
            <a:avLst/>
          </a:prstGeom>
          <a:noFill/>
        </p:spPr>
        <p:txBody>
          <a:bodyPr wrap="square">
            <a:spAutoFit/>
          </a:bodyPr>
          <a:lstStyle/>
          <a:p>
            <a:pPr>
              <a:defRPr sz="1300" b="1">
                <a:solidFill>
                  <a:srgbClr val="F59E0B"/>
                </a:solidFill>
              </a:defRPr>
            </a:pPr>
            <a:r>
              <a:t>Generic AI Chatbots</a:t>
            </a:r>
          </a:p>
          <a:p>
            <a:pPr>
              <a:spcBef>
                <a:spcPts val="500"/>
              </a:spcBef>
              <a:defRPr sz="1050">
                <a:solidFill>
                  <a:srgbClr val="94A3B8"/>
                </a:solidFill>
              </a:defRPr>
            </a:pPr>
            <a:r>
              <a:t>• Examples: ChatGPT, Perplexity.</a:t>
            </a:r>
          </a:p>
          <a:p>
            <a:pPr>
              <a:spcBef>
                <a:spcPts val="500"/>
              </a:spcBef>
              <a:defRPr sz="1050">
                <a:solidFill>
                  <a:srgbClr val="94A3B8"/>
                </a:solidFill>
              </a:defRPr>
            </a:pPr>
            <a:r>
              <a:t>• Model: Broad consumer LLM search.</a:t>
            </a:r>
          </a:p>
          <a:p>
            <a:pPr>
              <a:spcBef>
                <a:spcPts val="500"/>
              </a:spcBef>
              <a:defRPr sz="1050">
                <a:solidFill>
                  <a:srgbClr val="94A3B8"/>
                </a:solidFill>
              </a:defRPr>
            </a:pPr>
            <a:r>
              <a:t>• Speed: Fast (3-10 seconds).</a:t>
            </a:r>
          </a:p>
          <a:p>
            <a:pPr>
              <a:spcBef>
                <a:spcPts val="500"/>
              </a:spcBef>
              <a:defRPr sz="1050">
                <a:solidFill>
                  <a:srgbClr val="94A3B8"/>
                </a:solidFill>
              </a:defRPr>
            </a:pPr>
            <a:r>
              <a:t>• Pricing: $20/month.</a:t>
            </a:r>
          </a:p>
          <a:p>
            <a:pPr>
              <a:spcBef>
                <a:spcPts val="500"/>
              </a:spcBef>
              <a:defRPr sz="1050">
                <a:solidFill>
                  <a:srgbClr val="94A3B8"/>
                </a:solidFill>
              </a:defRPr>
            </a:pPr>
            <a:r>
              <a:t>• Weakness: Prone to hallucinations; no parametric math engine; unverified real estate data.</a:t>
            </a:r>
          </a:p>
        </p:txBody>
      </p:sp>
      <p:sp>
        <p:nvSpPr>
          <p:cNvPr id="11" name="Rounded Rectangle 10"/>
          <p:cNvSpPr/>
          <p:nvPr/>
        </p:nvSpPr>
        <p:spPr>
          <a:xfrm>
            <a:off x="8961120" y="1508760"/>
            <a:ext cx="2468880" cy="4754880"/>
          </a:xfrm>
          <a:prstGeom prst="roundRect">
            <a:avLst/>
          </a:prstGeom>
          <a:solidFill>
            <a:srgbClr val="0E16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62288" y="1673351"/>
            <a:ext cx="2066544" cy="4425696"/>
          </a:xfrm>
          <a:prstGeom prst="rect">
            <a:avLst/>
          </a:prstGeom>
          <a:noFill/>
        </p:spPr>
        <p:txBody>
          <a:bodyPr wrap="square">
            <a:spAutoFit/>
          </a:bodyPr>
          <a:lstStyle/>
          <a:p>
            <a:pPr>
              <a:defRPr sz="1300" b="1">
                <a:solidFill>
                  <a:srgbClr val="10B981"/>
                </a:solidFill>
              </a:defRPr>
            </a:pPr>
            <a:r>
              <a:t>GCC Intel (Us)</a:t>
            </a:r>
          </a:p>
          <a:p>
            <a:pPr>
              <a:spcBef>
                <a:spcPts val="500"/>
              </a:spcBef>
              <a:defRPr sz="1050">
                <a:solidFill>
                  <a:srgbClr val="94A3B8"/>
                </a:solidFill>
              </a:defRPr>
            </a:pPr>
            <a:r>
              <a:t>• Model: Verticalized Institutional B2B SaaS.</a:t>
            </a:r>
          </a:p>
          <a:p>
            <a:pPr>
              <a:spcBef>
                <a:spcPts val="500"/>
              </a:spcBef>
              <a:defRPr sz="1050">
                <a:solidFill>
                  <a:srgbClr val="94A3B8"/>
                </a:solidFill>
              </a:defRPr>
            </a:pPr>
            <a:r>
              <a:t>• Speed: Real-time parametric simulation (&lt;5s).</a:t>
            </a:r>
          </a:p>
          <a:p>
            <a:pPr>
              <a:spcBef>
                <a:spcPts val="500"/>
              </a:spcBef>
              <a:defRPr sz="1050">
                <a:solidFill>
                  <a:srgbClr val="94A3B8"/>
                </a:solidFill>
              </a:defRPr>
            </a:pPr>
            <a:r>
              <a:t>• Trust: 100% verified against audited dossiers.</a:t>
            </a:r>
          </a:p>
          <a:p>
            <a:pPr>
              <a:spcBef>
                <a:spcPts val="500"/>
              </a:spcBef>
              <a:defRPr sz="1050">
                <a:solidFill>
                  <a:srgbClr val="94A3B8"/>
                </a:solidFill>
              </a:defRPr>
            </a:pPr>
            <a:r>
              <a:t>• Pricing: $5k - $25k annual subscription.</a:t>
            </a:r>
          </a:p>
          <a:p>
            <a:pPr>
              <a:spcBef>
                <a:spcPts val="500"/>
              </a:spcBef>
              <a:defRPr sz="1050">
                <a:solidFill>
                  <a:srgbClr val="94A3B8"/>
                </a:solidFill>
              </a:defRPr>
            </a:pPr>
            <a:r>
              <a:t>• Defensibility: Proprietary structured datasets, AST math guard, and LangGraph verification.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BUSINESS MODEL</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High-Margin Recurring B2B SaaS with Value-Add Enablement Fees</a:t>
            </a:r>
          </a:p>
        </p:txBody>
      </p:sp>
      <p:sp>
        <p:nvSpPr>
          <p:cNvPr id="5" name="Rounded Rectangle 4"/>
          <p:cNvSpPr/>
          <p:nvPr/>
        </p:nvSpPr>
        <p:spPr>
          <a:xfrm>
            <a:off x="731520" y="1508760"/>
            <a:ext cx="329184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2889504" cy="4425696"/>
          </a:xfrm>
          <a:prstGeom prst="rect">
            <a:avLst/>
          </a:prstGeom>
          <a:noFill/>
        </p:spPr>
        <p:txBody>
          <a:bodyPr wrap="square">
            <a:spAutoFit/>
          </a:bodyPr>
          <a:lstStyle/>
          <a:p>
            <a:pPr>
              <a:defRPr sz="1300" b="1">
                <a:solidFill>
                  <a:srgbClr val="38BDF8"/>
                </a:solidFill>
              </a:defRPr>
            </a:pPr>
            <a:r>
              <a:t>Tier 1: Enterprise Terminal</a:t>
            </a:r>
          </a:p>
          <a:p>
            <a:pPr>
              <a:spcBef>
                <a:spcPts val="500"/>
              </a:spcBef>
              <a:defRPr sz="1050">
                <a:solidFill>
                  <a:srgbClr val="94A3B8"/>
                </a:solidFill>
              </a:defRPr>
            </a:pPr>
            <a:r>
              <a:t>• Target: Corporate Strategy, Real Estate Directors, and PE Operating Partners.</a:t>
            </a:r>
          </a:p>
          <a:p>
            <a:pPr>
              <a:spcBef>
                <a:spcPts val="500"/>
              </a:spcBef>
              <a:defRPr sz="1050">
                <a:solidFill>
                  <a:srgbClr val="94A3B8"/>
                </a:solidFill>
              </a:defRPr>
            </a:pPr>
            <a:r>
              <a:t>• Pricing: $12,000 / seat / year (billed annually).</a:t>
            </a:r>
          </a:p>
          <a:p>
            <a:pPr>
              <a:spcBef>
                <a:spcPts val="500"/>
              </a:spcBef>
              <a:defRPr sz="1050">
                <a:solidFill>
                  <a:srgbClr val="94A3B8"/>
                </a:solidFill>
              </a:defRPr>
            </a:pPr>
            <a:r>
              <a:t>• Features: Unlimited OpEx simulations, full 32-record dossier access, 1-click CSV exports, and 500 AI Research Agent queries/month.</a:t>
            </a:r>
          </a:p>
          <a:p>
            <a:pPr>
              <a:spcBef>
                <a:spcPts val="500"/>
              </a:spcBef>
              <a:defRPr sz="1050">
                <a:solidFill>
                  <a:srgbClr val="94A3B8"/>
                </a:solidFill>
              </a:defRPr>
            </a:pPr>
            <a:r>
              <a:t>• Gross Margin: 85%+ software margins.</a:t>
            </a:r>
          </a:p>
        </p:txBody>
      </p:sp>
      <p:sp>
        <p:nvSpPr>
          <p:cNvPr id="7" name="Rounded Rectangle 6"/>
          <p:cNvSpPr/>
          <p:nvPr/>
        </p:nvSpPr>
        <p:spPr>
          <a:xfrm>
            <a:off x="4389120" y="1508760"/>
            <a:ext cx="329184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0288" y="1673351"/>
            <a:ext cx="2889504" cy="4425696"/>
          </a:xfrm>
          <a:prstGeom prst="rect">
            <a:avLst/>
          </a:prstGeom>
          <a:noFill/>
        </p:spPr>
        <p:txBody>
          <a:bodyPr wrap="square">
            <a:spAutoFit/>
          </a:bodyPr>
          <a:lstStyle/>
          <a:p>
            <a:pPr>
              <a:defRPr sz="1300" b="1">
                <a:solidFill>
                  <a:srgbClr val="10B981"/>
                </a:solidFill>
              </a:defRPr>
            </a:pPr>
            <a:r>
              <a:t>Tier 2: Enterprise API &amp; Data</a:t>
            </a:r>
          </a:p>
          <a:p>
            <a:pPr>
              <a:spcBef>
                <a:spcPts val="500"/>
              </a:spcBef>
              <a:defRPr sz="1050">
                <a:solidFill>
                  <a:srgbClr val="94A3B8"/>
                </a:solidFill>
              </a:defRPr>
            </a:pPr>
            <a:r>
              <a:t>• Target: Global CRE Brokerages, HR Consultancies, and Investment Banks.</a:t>
            </a:r>
          </a:p>
          <a:p>
            <a:pPr>
              <a:spcBef>
                <a:spcPts val="500"/>
              </a:spcBef>
              <a:defRPr sz="1050">
                <a:solidFill>
                  <a:srgbClr val="94A3B8"/>
                </a:solidFill>
              </a:defRPr>
            </a:pPr>
            <a:r>
              <a:t>• Pricing: $30,000 / year base fee + volume usage.</a:t>
            </a:r>
          </a:p>
          <a:p>
            <a:pPr>
              <a:spcBef>
                <a:spcPts val="500"/>
              </a:spcBef>
              <a:defRPr sz="1050">
                <a:solidFill>
                  <a:srgbClr val="94A3B8"/>
                </a:solidFill>
              </a:defRPr>
            </a:pPr>
            <a:r>
              <a:t>• Features: Direct programmatic API access to structured micro-market rents, salary matrices, and state policy schedules.</a:t>
            </a:r>
          </a:p>
          <a:p>
            <a:pPr>
              <a:spcBef>
                <a:spcPts val="500"/>
              </a:spcBef>
              <a:defRPr sz="1050">
                <a:solidFill>
                  <a:srgbClr val="94A3B8"/>
                </a:solidFill>
              </a:defRPr>
            </a:pPr>
            <a:r>
              <a:t>• Integration: Feeds corporate intranet dashboards and real estate ERPs.</a:t>
            </a:r>
          </a:p>
        </p:txBody>
      </p:sp>
      <p:sp>
        <p:nvSpPr>
          <p:cNvPr id="9" name="Rounded Rectangle 8"/>
          <p:cNvSpPr/>
          <p:nvPr/>
        </p:nvSpPr>
        <p:spPr>
          <a:xfrm>
            <a:off x="8046720" y="1508760"/>
            <a:ext cx="338328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7888" y="1673351"/>
            <a:ext cx="2980944" cy="4425696"/>
          </a:xfrm>
          <a:prstGeom prst="rect">
            <a:avLst/>
          </a:prstGeom>
          <a:noFill/>
        </p:spPr>
        <p:txBody>
          <a:bodyPr wrap="square">
            <a:spAutoFit/>
          </a:bodyPr>
          <a:lstStyle/>
          <a:p>
            <a:pPr>
              <a:defRPr sz="1300" b="1">
                <a:solidFill>
                  <a:srgbClr val="F59E0B"/>
                </a:solidFill>
              </a:defRPr>
            </a:pPr>
            <a:r>
              <a:t>Tier 3: Partner Referrals</a:t>
            </a:r>
          </a:p>
          <a:p>
            <a:pPr>
              <a:spcBef>
                <a:spcPts val="500"/>
              </a:spcBef>
              <a:defRPr sz="1050">
                <a:solidFill>
                  <a:srgbClr val="94A3B8"/>
                </a:solidFill>
              </a:defRPr>
            </a:pPr>
            <a:r>
              <a:t>• Target: Turnkey GCC Incubators, EOR Providers, Real Estate Developers, and Law Firms.</a:t>
            </a:r>
          </a:p>
          <a:p>
            <a:pPr>
              <a:spcBef>
                <a:spcPts val="500"/>
              </a:spcBef>
              <a:defRPr sz="1050">
                <a:solidFill>
                  <a:srgbClr val="94A3B8"/>
                </a:solidFill>
              </a:defRPr>
            </a:pPr>
            <a:r>
              <a:t>• Model: Qualified enterprise introduction fee (success-based referral fee: 1.5% - 3.5% of Year 1 contract value).</a:t>
            </a:r>
          </a:p>
          <a:p>
            <a:pPr>
              <a:spcBef>
                <a:spcPts val="500"/>
              </a:spcBef>
              <a:defRPr sz="1050">
                <a:solidFill>
                  <a:srgbClr val="94A3B8"/>
                </a:solidFill>
              </a:defRPr>
            </a:pPr>
            <a:r>
              <a:t>• Win-Win: Enterprises get pre-vetted partners; partners access warm, qualified pipeline.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274320"/>
          </a:xfrm>
          <a:prstGeom prst="rect">
            <a:avLst/>
          </a:prstGeom>
          <a:noFill/>
        </p:spPr>
        <p:txBody>
          <a:bodyPr wrap="square">
            <a:spAutoFit/>
          </a:bodyPr>
          <a:lstStyle/>
          <a:p>
            <a:pPr>
              <a:defRPr sz="1000" b="1">
                <a:solidFill>
                  <a:srgbClr val="38BDF8"/>
                </a:solidFill>
              </a:defRPr>
            </a:pPr>
            <a:r>
              <a:t>DELIVERABLE 1: PRODUCT STRATEGY DECK  |  ROADMAP &amp; PRODUCTION PROOF</a:t>
            </a:r>
          </a:p>
        </p:txBody>
      </p:sp>
      <p:sp>
        <p:nvSpPr>
          <p:cNvPr id="4" name="TextBox 3"/>
          <p:cNvSpPr txBox="1"/>
          <p:nvPr/>
        </p:nvSpPr>
        <p:spPr>
          <a:xfrm>
            <a:off x="731520" y="594360"/>
            <a:ext cx="10698480" cy="731520"/>
          </a:xfrm>
          <a:prstGeom prst="rect">
            <a:avLst/>
          </a:prstGeom>
          <a:noFill/>
        </p:spPr>
        <p:txBody>
          <a:bodyPr wrap="square">
            <a:spAutoFit/>
          </a:bodyPr>
          <a:lstStyle/>
          <a:p>
            <a:pPr>
              <a:defRPr sz="2200" b="1">
                <a:solidFill>
                  <a:srgbClr val="F8FAFC"/>
                </a:solidFill>
              </a:defRPr>
            </a:pPr>
            <a:r>
              <a:t>Clear Path to Ecosystem Leadership with 100% Live Proof</a:t>
            </a:r>
          </a:p>
        </p:txBody>
      </p:sp>
      <p:sp>
        <p:nvSpPr>
          <p:cNvPr id="5" name="Rounded Rectangle 4"/>
          <p:cNvSpPr/>
          <p:nvPr/>
        </p:nvSpPr>
        <p:spPr>
          <a:xfrm>
            <a:off x="731520" y="1508760"/>
            <a:ext cx="5029200" cy="4754880"/>
          </a:xfrm>
          <a:prstGeom prst="roundRect">
            <a:avLst/>
          </a:prstGeom>
          <a:solidFill>
            <a:srgbClr val="0E1626"/>
          </a:solidFill>
          <a:ln w="19050">
            <a:solidFill>
              <a:srgbClr val="22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73351"/>
            <a:ext cx="4626864" cy="4425696"/>
          </a:xfrm>
          <a:prstGeom prst="rect">
            <a:avLst/>
          </a:prstGeom>
          <a:noFill/>
        </p:spPr>
        <p:txBody>
          <a:bodyPr wrap="square">
            <a:spAutoFit/>
          </a:bodyPr>
          <a:lstStyle/>
          <a:p>
            <a:pPr>
              <a:defRPr sz="1300" b="1">
                <a:solidFill>
                  <a:srgbClr val="38BDF8"/>
                </a:solidFill>
              </a:defRPr>
            </a:pPr>
            <a:r>
              <a:t>Phased Product Evolution</a:t>
            </a:r>
          </a:p>
          <a:p>
            <a:pPr>
              <a:spcBef>
                <a:spcPts val="500"/>
              </a:spcBef>
              <a:defRPr sz="1050">
                <a:solidFill>
                  <a:srgbClr val="94A3B8"/>
                </a:solidFill>
              </a:defRPr>
            </a:pPr>
            <a:r>
              <a:t>• Phase 1 (Completed - Current Live Production): 32 audited GCC dossiers, 5 Tier-1 Metros, Parametric OpEx Modeler, LangGraph Research Agent, and Service Partner Registry.</a:t>
            </a:r>
          </a:p>
          <a:p>
            <a:pPr>
              <a:spcBef>
                <a:spcPts val="500"/>
              </a:spcBef>
              <a:defRPr sz="1050">
                <a:solidFill>
                  <a:srgbClr val="94A3B8"/>
                </a:solidFill>
              </a:defRPr>
            </a:pPr>
            <a:r>
              <a:t>• Phase 2 (Q1-Q2 2025): Expand to 10 Tier-2 Emerging Hubs (Coimbatore, Kochi, Ahmedabad, Chandigarh, Indore) + Tier-2 state subsidy calculators.</a:t>
            </a:r>
          </a:p>
          <a:p>
            <a:pPr>
              <a:spcBef>
                <a:spcPts val="500"/>
              </a:spcBef>
              <a:defRPr sz="1050">
                <a:solidFill>
                  <a:srgbClr val="94A3B8"/>
                </a:solidFill>
              </a:defRPr>
            </a:pPr>
            <a:r>
              <a:t>• Phase 3 (Q3-Q4 2025): Real-time API ingestion from state single-window portals + dynamic Grade-A vacancy alerts.</a:t>
            </a:r>
          </a:p>
          <a:p>
            <a:pPr>
              <a:spcBef>
                <a:spcPts val="500"/>
              </a:spcBef>
              <a:defRPr sz="1050">
                <a:solidFill>
                  <a:srgbClr val="94A3B8"/>
                </a:solidFill>
              </a:defRPr>
            </a:pPr>
            <a:r>
              <a:t>• Phase 4 (2026): Turnkey vendor RFP marketplace with automated compliance filings.</a:t>
            </a:r>
          </a:p>
        </p:txBody>
      </p:sp>
      <p:sp>
        <p:nvSpPr>
          <p:cNvPr id="7" name="Rounded Rectangle 6"/>
          <p:cNvSpPr/>
          <p:nvPr/>
        </p:nvSpPr>
        <p:spPr>
          <a:xfrm>
            <a:off x="6035040" y="1508760"/>
            <a:ext cx="5394960" cy="4754880"/>
          </a:xfrm>
          <a:prstGeom prst="roundRect">
            <a:avLst/>
          </a:prstGeom>
          <a:solidFill>
            <a:srgbClr val="0E16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7" y="1673351"/>
            <a:ext cx="4992624" cy="4425696"/>
          </a:xfrm>
          <a:prstGeom prst="rect">
            <a:avLst/>
          </a:prstGeom>
          <a:noFill/>
        </p:spPr>
        <p:txBody>
          <a:bodyPr wrap="square">
            <a:spAutoFit/>
          </a:bodyPr>
          <a:lstStyle/>
          <a:p>
            <a:pPr>
              <a:defRPr sz="1300" b="1">
                <a:solidFill>
                  <a:srgbClr val="10B981"/>
                </a:solidFill>
              </a:defRPr>
            </a:pPr>
            <a:r>
              <a:t>Live Production Verification</a:t>
            </a:r>
          </a:p>
          <a:p>
            <a:pPr>
              <a:spcBef>
                <a:spcPts val="500"/>
              </a:spcBef>
              <a:defRPr sz="1050">
                <a:solidFill>
                  <a:srgbClr val="94A3B8"/>
                </a:solidFill>
              </a:defRPr>
            </a:pPr>
            <a:r>
              <a:t>• Live Cloud Instance: cu5axikwdfpfurctzwhxtp.streamlit.app (Zero downtime, verified active).</a:t>
            </a:r>
          </a:p>
          <a:p>
            <a:pPr>
              <a:spcBef>
                <a:spcPts val="500"/>
              </a:spcBef>
              <a:defRPr sz="1050">
                <a:solidFill>
                  <a:srgbClr val="94A3B8"/>
                </a:solidFill>
              </a:defRPr>
            </a:pPr>
            <a:r>
              <a:t>• Public Repository: github.com/SURYAMS002/gcc (Branch: main).</a:t>
            </a:r>
          </a:p>
          <a:p>
            <a:pPr>
              <a:spcBef>
                <a:spcPts val="500"/>
              </a:spcBef>
              <a:defRPr sz="1050">
                <a:solidFill>
                  <a:srgbClr val="94A3B8"/>
                </a:solidFill>
              </a:defRPr>
            </a:pPr>
            <a:r>
              <a:t>• Audited Integrity: 100% primary source backed—no mock data, no synthetic hallucinations.</a:t>
            </a:r>
          </a:p>
          <a:p>
            <a:pPr>
              <a:spcBef>
                <a:spcPts val="500"/>
              </a:spcBef>
              <a:defRPr sz="1050">
                <a:solidFill>
                  <a:srgbClr val="94A3B8"/>
                </a:solidFill>
              </a:defRPr>
            </a:pPr>
            <a:r>
              <a:t>• Deliverable Status: Complete and verified across all executive requirements.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